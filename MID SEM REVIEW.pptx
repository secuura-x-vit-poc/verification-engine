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D81961-9F3A-43B7-8F3F-ED98EBC6FF36}">
  <a:tblStyle styleId="{07D81961-9F3A-43B7-8F3F-ED98EBC6FF3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e6bc37854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ce6bc37854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ce6bc37854_0_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e6bc37854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ce6bc37854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g3ce6bc37854_0_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e6bc37854_0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ce6bc37854_0_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ce6bc37854_0_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e6bc37854_0_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ce6bc37854_0_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ce6bc37854_0_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ce6bc37854_4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ce6bc37854_4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3ce6bc37854_4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e6bc37854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ce6bc37854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ce6bc37854_0_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ce6bc37854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ce6bc37854_0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3ce6bc37854_0_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ce6bc37854_0_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ce6bc37854_0_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3ce6bc37854_0_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showMasterSp="0">
  <p:cSld name="1_Title and Content">
    <p:spTree>
      <p:nvGrpSpPr>
        <p:cNvPr id="21" name="Shape 21"/>
        <p:cNvGrpSpPr/>
        <p:nvPr/>
      </p:nvGrpSpPr>
      <p:grpSpPr>
        <a:xfrm>
          <a:off x="0" y="0"/>
          <a:ext cx="0" cy="0"/>
          <a:chOff x="0" y="0"/>
          <a:chExt cx="0" cy="0"/>
        </a:xfrm>
      </p:grpSpPr>
      <p:sp>
        <p:nvSpPr>
          <p:cNvPr id="22" name="Google Shape;22;p3"/>
          <p:cNvSpPr/>
          <p:nvPr/>
        </p:nvSpPr>
        <p:spPr>
          <a:xfrm>
            <a:off x="838200" y="77450"/>
            <a:ext cx="7696200" cy="457200"/>
          </a:xfrm>
          <a:prstGeom prst="roundRect">
            <a:avLst>
              <a:gd fmla="val 16667" name="adj"/>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Calibri"/>
              <a:ea typeface="Calibri"/>
              <a:cs typeface="Calibri"/>
              <a:sym typeface="Calibri"/>
            </a:endParaRPr>
          </a:p>
        </p:txBody>
      </p:sp>
      <p:sp>
        <p:nvSpPr>
          <p:cNvPr id="23" name="Google Shape;23;p3"/>
          <p:cNvSpPr txBox="1"/>
          <p:nvPr/>
        </p:nvSpPr>
        <p:spPr>
          <a:xfrm rot="-5401349">
            <a:off x="-3213912" y="3275495"/>
            <a:ext cx="6858028" cy="307007"/>
          </a:xfrm>
          <a:prstGeom prst="rect">
            <a:avLst/>
          </a:prstGeom>
          <a:solidFill>
            <a:srgbClr val="000080"/>
          </a:solidFill>
          <a:ln>
            <a:noFill/>
          </a:ln>
        </p:spPr>
        <p:txBody>
          <a:bodyPr anchorCtr="0" anchor="t" bIns="68575" lIns="91425" spcFirstLastPara="1" rIns="91425" wrap="square" tIns="685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Verdana"/>
                <a:ea typeface="Verdana"/>
                <a:cs typeface="Verdana"/>
                <a:sym typeface="Verdana"/>
              </a:rPr>
              <a:t>   Vishwakarma  Institute  of  Technology</a:t>
            </a:r>
            <a:endParaRPr b="0" i="0" sz="1400" u="none" cap="none" strike="noStrike">
              <a:solidFill>
                <a:srgbClr val="000000"/>
              </a:solidFill>
              <a:latin typeface="Arial"/>
              <a:ea typeface="Arial"/>
              <a:cs typeface="Arial"/>
              <a:sym typeface="Arial"/>
            </a:endParaRPr>
          </a:p>
        </p:txBody>
      </p:sp>
      <p:pic>
        <p:nvPicPr>
          <p:cNvPr id="24" name="Google Shape;24;p3"/>
          <p:cNvPicPr preferRelativeResize="0"/>
          <p:nvPr/>
        </p:nvPicPr>
        <p:blipFill rotWithShape="1">
          <a:blip r:embed="rId2">
            <a:alphaModFix/>
          </a:blip>
          <a:srcRect b="0" l="0" r="0" t="0"/>
          <a:stretch/>
        </p:blipFill>
        <p:spPr>
          <a:xfrm>
            <a:off x="1" y="2"/>
            <a:ext cx="447675" cy="614363"/>
          </a:xfrm>
          <a:prstGeom prst="rect">
            <a:avLst/>
          </a:prstGeom>
          <a:noFill/>
          <a:ln>
            <a:noFill/>
          </a:ln>
        </p:spPr>
      </p:pic>
      <p:pic>
        <p:nvPicPr>
          <p:cNvPr descr="C:\Users\HP\Pictures\animations\1.gif" id="25" name="Google Shape;25;p3"/>
          <p:cNvPicPr preferRelativeResize="0"/>
          <p:nvPr/>
        </p:nvPicPr>
        <p:blipFill rotWithShape="1">
          <a:blip r:embed="rId3">
            <a:alphaModFix/>
          </a:blip>
          <a:srcRect b="0" l="0" r="0" t="0"/>
          <a:stretch/>
        </p:blipFill>
        <p:spPr>
          <a:xfrm>
            <a:off x="409575" y="581025"/>
            <a:ext cx="8724900" cy="71438"/>
          </a:xfrm>
          <a:prstGeom prst="rect">
            <a:avLst/>
          </a:prstGeom>
          <a:noFill/>
          <a:ln>
            <a:noFill/>
          </a:ln>
        </p:spPr>
      </p:pic>
      <p:sp>
        <p:nvSpPr>
          <p:cNvPr id="26" name="Google Shape;26;p3"/>
          <p:cNvSpPr txBox="1"/>
          <p:nvPr>
            <p:ph type="title"/>
          </p:nvPr>
        </p:nvSpPr>
        <p:spPr>
          <a:xfrm>
            <a:off x="1647670" y="2"/>
            <a:ext cx="5791200" cy="63976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lt1"/>
              </a:buClr>
              <a:buSzPts val="2800"/>
              <a:buFont typeface="Verdana"/>
              <a:buNone/>
              <a:defRPr sz="28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 type="body"/>
          </p:nvPr>
        </p:nvSpPr>
        <p:spPr>
          <a:xfrm>
            <a:off x="609600" y="667404"/>
            <a:ext cx="8353098" cy="5733396"/>
          </a:xfrm>
          <a:prstGeom prst="rect">
            <a:avLst/>
          </a:prstGeom>
          <a:noFill/>
          <a:ln>
            <a:noFill/>
          </a:ln>
        </p:spPr>
        <p:txBody>
          <a:bodyPr anchorCtr="0" anchor="t" bIns="45700" lIns="91425" spcFirstLastPara="1" rIns="91425" wrap="square" tIns="45700">
            <a:normAutofit/>
          </a:bodyPr>
          <a:lstStyle>
            <a:lvl1pPr indent="-355600" lvl="0" marL="457200" algn="l">
              <a:lnSpc>
                <a:spcPct val="150000"/>
              </a:lnSpc>
              <a:spcBef>
                <a:spcPts val="400"/>
              </a:spcBef>
              <a:spcAft>
                <a:spcPts val="0"/>
              </a:spcAft>
              <a:buClr>
                <a:schemeClr val="dk1"/>
              </a:buClr>
              <a:buSzPts val="2000"/>
              <a:buChar char="•"/>
              <a:defRPr sz="2000">
                <a:latin typeface="Verdana"/>
                <a:ea typeface="Verdana"/>
                <a:cs typeface="Verdana"/>
                <a:sym typeface="Verdana"/>
              </a:defRPr>
            </a:lvl1pPr>
            <a:lvl2pPr indent="-355600" lvl="1" marL="914400" algn="l">
              <a:lnSpc>
                <a:spcPct val="150000"/>
              </a:lnSpc>
              <a:spcBef>
                <a:spcPts val="400"/>
              </a:spcBef>
              <a:spcAft>
                <a:spcPts val="0"/>
              </a:spcAft>
              <a:buClr>
                <a:schemeClr val="dk1"/>
              </a:buClr>
              <a:buSzPts val="2000"/>
              <a:buChar char="–"/>
              <a:defRPr sz="2000">
                <a:latin typeface="Verdana"/>
                <a:ea typeface="Verdana"/>
                <a:cs typeface="Verdana"/>
                <a:sym typeface="Verdana"/>
              </a:defRPr>
            </a:lvl2pPr>
            <a:lvl3pPr indent="-355600" lvl="2" marL="1371600" algn="l">
              <a:lnSpc>
                <a:spcPct val="150000"/>
              </a:lnSpc>
              <a:spcBef>
                <a:spcPts val="400"/>
              </a:spcBef>
              <a:spcAft>
                <a:spcPts val="0"/>
              </a:spcAft>
              <a:buClr>
                <a:schemeClr val="dk1"/>
              </a:buClr>
              <a:buSzPts val="2000"/>
              <a:buChar char="•"/>
              <a:defRPr sz="2000">
                <a:latin typeface="Verdana"/>
                <a:ea typeface="Verdana"/>
                <a:cs typeface="Verdana"/>
                <a:sym typeface="Verdana"/>
              </a:defRPr>
            </a:lvl3pPr>
            <a:lvl4pPr indent="-355600" lvl="3" marL="1828800" algn="l">
              <a:lnSpc>
                <a:spcPct val="150000"/>
              </a:lnSpc>
              <a:spcBef>
                <a:spcPts val="400"/>
              </a:spcBef>
              <a:spcAft>
                <a:spcPts val="0"/>
              </a:spcAft>
              <a:buClr>
                <a:schemeClr val="dk1"/>
              </a:buClr>
              <a:buSzPts val="2000"/>
              <a:buChar char="–"/>
              <a:defRPr sz="2000">
                <a:latin typeface="Verdana"/>
                <a:ea typeface="Verdana"/>
                <a:cs typeface="Verdana"/>
                <a:sym typeface="Verdana"/>
              </a:defRPr>
            </a:lvl4pPr>
            <a:lvl5pPr indent="-355600" lvl="4" marL="2286000" algn="l">
              <a:lnSpc>
                <a:spcPct val="150000"/>
              </a:lnSpc>
              <a:spcBef>
                <a:spcPts val="400"/>
              </a:spcBef>
              <a:spcAft>
                <a:spcPts val="0"/>
              </a:spcAft>
              <a:buClr>
                <a:schemeClr val="dk1"/>
              </a:buClr>
              <a:buSzPts val="2000"/>
              <a:buChar char="»"/>
              <a:defRPr sz="2000">
                <a:latin typeface="Verdana"/>
                <a:ea typeface="Verdana"/>
                <a:cs typeface="Verdana"/>
                <a:sym typeface="Verdana"/>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
          <p:cNvSpPr txBox="1"/>
          <p:nvPr>
            <p:ph idx="11" type="ftr"/>
          </p:nvPr>
        </p:nvSpPr>
        <p:spPr>
          <a:xfrm>
            <a:off x="3124200" y="6553200"/>
            <a:ext cx="2895600" cy="2603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
          <p:cNvSpPr txBox="1"/>
          <p:nvPr>
            <p:ph idx="12" type="sldNum"/>
          </p:nvPr>
        </p:nvSpPr>
        <p:spPr>
          <a:xfrm>
            <a:off x="6950148" y="6538422"/>
            <a:ext cx="2133600" cy="2603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r>
              <a:rPr lang="en-US"/>
              <a: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3" name="Google Shape;43;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9" name="Google Shape;49;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6" name="Google Shape;56;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7" name="Google Shape;57;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8" name="Google Shape;58;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9" name="Google Shape;59;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70" name="Google Shape;70;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1" name="Google Shape;71;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p:nvPr>
            <p:ph idx="2" type="pic"/>
          </p:nvPr>
        </p:nvSpPr>
        <p:spPr>
          <a:xfrm>
            <a:off x="1792288" y="612775"/>
            <a:ext cx="5486400" cy="4114800"/>
          </a:xfrm>
          <a:prstGeom prst="rect">
            <a:avLst/>
          </a:prstGeom>
          <a:noFill/>
          <a:ln>
            <a:noFill/>
          </a:ln>
        </p:spPr>
      </p:sp>
      <p:sp>
        <p:nvSpPr>
          <p:cNvPr id="77" name="Google Shape;77;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8" name="Google Shape;7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4" name="Google Shape;8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0" name="Google Shape;9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p14:dur="100">
        <p:push/>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533400" y="2590800"/>
            <a:ext cx="8153400" cy="1143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400"/>
              <a:buFont typeface="Calibri"/>
              <a:buNone/>
            </a:pPr>
            <a:r>
              <a:rPr lang="en-US">
                <a:solidFill>
                  <a:schemeClr val="lt1"/>
                </a:solidFill>
              </a:rPr>
              <a:t>Secuura x VIT</a:t>
            </a:r>
            <a:endParaRPr/>
          </a:p>
        </p:txBody>
      </p:sp>
      <p:sp>
        <p:nvSpPr>
          <p:cNvPr id="98" name="Google Shape;98;p14"/>
          <p:cNvSpPr txBox="1"/>
          <p:nvPr>
            <p:ph idx="1" type="subTitle"/>
          </p:nvPr>
        </p:nvSpPr>
        <p:spPr>
          <a:xfrm>
            <a:off x="1371600" y="3978275"/>
            <a:ext cx="6400800" cy="5334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rgbClr val="C00000"/>
              </a:buClr>
              <a:buSzPts val="3200"/>
              <a:buNone/>
            </a:pPr>
            <a:r>
              <a:rPr lang="en-US">
                <a:solidFill>
                  <a:srgbClr val="C00000"/>
                </a:solidFill>
              </a:rPr>
              <a:t>Guide: Mr. Ganesh Shelke </a:t>
            </a:r>
            <a:endParaRPr/>
          </a:p>
        </p:txBody>
      </p:sp>
      <p:sp>
        <p:nvSpPr>
          <p:cNvPr id="99" name="Google Shape;9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sp>
        <p:nvSpPr>
          <p:cNvPr id="100" name="Google Shape;100;p14"/>
          <p:cNvSpPr txBox="1"/>
          <p:nvPr/>
        </p:nvSpPr>
        <p:spPr>
          <a:xfrm>
            <a:off x="457200" y="4511675"/>
            <a:ext cx="5715000" cy="169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1. Aditya Ulangwar SY IT-A 68</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2. Shivam Aher SY IT-A 69</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3. Kanak Bansal SY IT-A 70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4. Urvee Bhagwat SY IT-A 71</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5. Shreyash Dabhade SY IT-A 75</a:t>
            </a:r>
            <a:endParaRPr b="0" i="0" sz="1800" u="none" cap="none" strike="noStrike">
              <a:solidFill>
                <a:schemeClr val="dk1"/>
              </a:solidFill>
              <a:latin typeface="Calibri"/>
              <a:ea typeface="Calibri"/>
              <a:cs typeface="Calibri"/>
              <a:sym typeface="Calibri"/>
            </a:endParaRPr>
          </a:p>
        </p:txBody>
      </p:sp>
      <p:sp>
        <p:nvSpPr>
          <p:cNvPr id="101" name="Google Shape;10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10/03/26</a:t>
            </a:r>
            <a:endParaRPr/>
          </a:p>
        </p:txBody>
      </p:sp>
      <p:pic>
        <p:nvPicPr>
          <p:cNvPr id="102" name="Google Shape;102;p14"/>
          <p:cNvPicPr preferRelativeResize="0"/>
          <p:nvPr/>
        </p:nvPicPr>
        <p:blipFill rotWithShape="1">
          <a:blip r:embed="rId3">
            <a:alphaModFix/>
          </a:blip>
          <a:srcRect b="0" l="0" r="0" t="0"/>
          <a:stretch/>
        </p:blipFill>
        <p:spPr>
          <a:xfrm>
            <a:off x="533400" y="381000"/>
            <a:ext cx="1066800" cy="1143000"/>
          </a:xfrm>
          <a:prstGeom prst="rect">
            <a:avLst/>
          </a:prstGeom>
          <a:noFill/>
          <a:ln>
            <a:noFill/>
          </a:ln>
        </p:spPr>
      </p:pic>
      <p:sp>
        <p:nvSpPr>
          <p:cNvPr id="103" name="Google Shape;103;p14"/>
          <p:cNvSpPr txBox="1"/>
          <p:nvPr/>
        </p:nvSpPr>
        <p:spPr>
          <a:xfrm>
            <a:off x="1828800" y="381000"/>
            <a:ext cx="6553200" cy="1143000"/>
          </a:xfrm>
          <a:prstGeom prst="rect">
            <a:avLst/>
          </a:prstGeom>
          <a:noFill/>
          <a:ln>
            <a:noFill/>
          </a:ln>
          <a:effectLst>
            <a:outerShdw blurRad="40000" rotWithShape="0" dir="5400000" dist="20000">
              <a:srgbClr val="000000">
                <a:alpha val="37647"/>
              </a:srgbClr>
            </a:outerShdw>
          </a:effectLst>
        </p:spPr>
        <p:txBody>
          <a:bodyPr anchorCtr="0" anchor="ctr" bIns="45700" lIns="91425" spcFirstLastPara="1" rIns="91425" wrap="square" tIns="45700">
            <a:normAutofit fontScale="90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chemeClr val="dk1"/>
                </a:solidFill>
                <a:latin typeface="Calibri"/>
                <a:ea typeface="Calibri"/>
                <a:cs typeface="Calibri"/>
                <a:sym typeface="Calibri"/>
              </a:rPr>
              <a:t>Vishwakarma Institute of Technology , Pune</a:t>
            </a:r>
            <a:endParaRPr b="1" i="0" sz="4400" u="none" cap="none" strike="noStrike">
              <a:solidFill>
                <a:schemeClr val="dk1"/>
              </a:solidFill>
              <a:latin typeface="Calibri"/>
              <a:ea typeface="Calibri"/>
              <a:cs typeface="Calibri"/>
              <a:sym typeface="Calibri"/>
            </a:endParaRPr>
          </a:p>
        </p:txBody>
      </p:sp>
      <p:sp>
        <p:nvSpPr>
          <p:cNvPr id="104" name="Google Shape;104;p14"/>
          <p:cNvSpPr txBox="1"/>
          <p:nvPr/>
        </p:nvSpPr>
        <p:spPr>
          <a:xfrm>
            <a:off x="838200" y="1676400"/>
            <a:ext cx="7543800" cy="457200"/>
          </a:xfrm>
          <a:prstGeom prst="rect">
            <a:avLst/>
          </a:prstGeom>
          <a:noFill/>
          <a:ln>
            <a:noFill/>
          </a:ln>
          <a:effectLst>
            <a:outerShdw blurRad="40000" rotWithShape="0" dir="5400000" dist="20000">
              <a:srgbClr val="000000">
                <a:alpha val="37647"/>
              </a:srgbClr>
            </a:outerShdw>
          </a:effectLst>
        </p:spPr>
        <p:txBody>
          <a:bodyPr anchorCtr="0" anchor="ctr" bIns="45700" lIns="91425" spcFirstLastPara="1" rIns="91425" wrap="square" tIns="45700">
            <a:normAutofit fontScale="60000" lnSpcReduction="20000"/>
          </a:bodyPr>
          <a:lstStyle/>
          <a:p>
            <a:pPr indent="0" lvl="0" marL="0" marR="0" rtl="0" algn="ctr">
              <a:lnSpc>
                <a:spcPct val="100000"/>
              </a:lnSpc>
              <a:spcBef>
                <a:spcPts val="0"/>
              </a:spcBef>
              <a:spcAft>
                <a:spcPts val="0"/>
              </a:spcAft>
              <a:buClr>
                <a:srgbClr val="000000"/>
              </a:buClr>
              <a:buSzPct val="100000"/>
              <a:buFont typeface="Arial"/>
              <a:buNone/>
            </a:pPr>
            <a:r>
              <a:rPr b="1" i="0" lang="en-US" sz="4400" u="none" cap="none" strike="noStrike">
                <a:solidFill>
                  <a:schemeClr val="dk1"/>
                </a:solidFill>
                <a:latin typeface="Calibri"/>
                <a:ea typeface="Calibri"/>
                <a:cs typeface="Calibri"/>
                <a:sym typeface="Calibri"/>
              </a:rPr>
              <a:t>Department of Information Technology </a:t>
            </a:r>
            <a:endParaRPr b="1" i="0" sz="4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idx="12" type="sldNum"/>
          </p:nvPr>
        </p:nvSpPr>
        <p:spPr>
          <a:xfrm>
            <a:off x="7391400" y="6477000"/>
            <a:ext cx="1600200" cy="195263"/>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latin typeface="Verdana"/>
                <a:ea typeface="Verdana"/>
                <a:cs typeface="Verdana"/>
                <a:sym typeface="Verdana"/>
              </a:rPr>
              <a:t>‹#›</a:t>
            </a:fld>
            <a:r>
              <a:rPr lang="en-US">
                <a:latin typeface="Verdana"/>
                <a:ea typeface="Verdana"/>
                <a:cs typeface="Verdana"/>
                <a:sym typeface="Verdana"/>
              </a:rPr>
              <a:t> </a:t>
            </a:r>
            <a:endParaRPr/>
          </a:p>
        </p:txBody>
      </p:sp>
      <p:sp>
        <p:nvSpPr>
          <p:cNvPr id="110" name="Google Shape;110;p15"/>
          <p:cNvSpPr txBox="1"/>
          <p:nvPr/>
        </p:nvSpPr>
        <p:spPr>
          <a:xfrm>
            <a:off x="1543050" y="3371850"/>
            <a:ext cx="6286500" cy="342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1" name="Google Shape;111;p15"/>
          <p:cNvSpPr txBox="1"/>
          <p:nvPr>
            <p:ph type="title"/>
          </p:nvPr>
        </p:nvSpPr>
        <p:spPr>
          <a:xfrm>
            <a:off x="1647670" y="2"/>
            <a:ext cx="5791200" cy="6397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2800"/>
              <a:buFont typeface="Verdana"/>
              <a:buNone/>
            </a:pPr>
            <a:r>
              <a:rPr lang="en-US" sz="2800">
                <a:latin typeface="Verdana"/>
                <a:ea typeface="Verdana"/>
                <a:cs typeface="Verdana"/>
                <a:sym typeface="Verdana"/>
              </a:rPr>
              <a:t>Content</a:t>
            </a:r>
            <a:endParaRPr/>
          </a:p>
        </p:txBody>
      </p:sp>
      <p:sp>
        <p:nvSpPr>
          <p:cNvPr id="112" name="Google Shape;112;p15"/>
          <p:cNvSpPr txBox="1"/>
          <p:nvPr/>
        </p:nvSpPr>
        <p:spPr>
          <a:xfrm>
            <a:off x="901275" y="905750"/>
            <a:ext cx="7284000" cy="4525200"/>
          </a:xfrm>
          <a:prstGeom prst="rect">
            <a:avLst/>
          </a:prstGeom>
          <a:noFill/>
          <a:ln>
            <a:noFill/>
          </a:ln>
        </p:spPr>
        <p:txBody>
          <a:bodyPr anchorCtr="0" anchor="t" bIns="45700" lIns="91425" spcFirstLastPara="1" rIns="91425" wrap="square" tIns="45700">
            <a:spAutoFit/>
          </a:bodyPr>
          <a:lstStyle/>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Introduction</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Motivation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Literature Review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Objectives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Problem Statement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Proposed Methodology</a:t>
            </a:r>
            <a:endParaRPr sz="2400">
              <a:solidFill>
                <a:schemeClr val="dk1"/>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System </a:t>
            </a:r>
            <a:r>
              <a:rPr lang="en-US" sz="2400">
                <a:solidFill>
                  <a:schemeClr val="dk1"/>
                </a:solidFill>
                <a:latin typeface="Roboto"/>
                <a:ea typeface="Roboto"/>
                <a:cs typeface="Roboto"/>
                <a:sym typeface="Roboto"/>
              </a:rPr>
              <a:t>Workflow</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Tools And Technologies Used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Algorithms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Results and Discussion </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Conclusion</a:t>
            </a:r>
            <a:endParaRPr b="0" i="0" sz="2400" u="none" cap="none" strike="noStrike">
              <a:solidFill>
                <a:srgbClr val="000000"/>
              </a:solidFill>
              <a:latin typeface="Roboto"/>
              <a:ea typeface="Roboto"/>
              <a:cs typeface="Roboto"/>
              <a:sym typeface="Roboto"/>
            </a:endParaRPr>
          </a:p>
          <a:p>
            <a:pPr indent="-288925" lvl="0" marL="288925" marR="0" rtl="0" algn="l">
              <a:lnSpc>
                <a:spcPct val="100000"/>
              </a:lnSpc>
              <a:spcBef>
                <a:spcPts val="0"/>
              </a:spcBef>
              <a:spcAft>
                <a:spcPts val="0"/>
              </a:spcAft>
              <a:buClr>
                <a:schemeClr val="dk1"/>
              </a:buClr>
              <a:buSzPts val="2400"/>
              <a:buFont typeface="Roboto"/>
              <a:buChar char="●"/>
            </a:pPr>
            <a:r>
              <a:rPr b="0" i="0" lang="en-US" sz="2400" u="none" cap="none" strike="noStrike">
                <a:solidFill>
                  <a:schemeClr val="dk1"/>
                </a:solidFill>
                <a:latin typeface="Roboto"/>
                <a:ea typeface="Roboto"/>
                <a:cs typeface="Roboto"/>
                <a:sym typeface="Roboto"/>
              </a:rPr>
              <a:t>References</a:t>
            </a:r>
            <a:endParaRPr b="0" i="0" sz="24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idx="12" type="sldNum"/>
          </p:nvPr>
        </p:nvSpPr>
        <p:spPr>
          <a:xfrm>
            <a:off x="7786493" y="6848997"/>
            <a:ext cx="1692000" cy="206400"/>
          </a:xfrm>
          <a:prstGeom prst="rect">
            <a:avLst/>
          </a:prstGeom>
          <a:noFill/>
          <a:ln>
            <a:noFill/>
          </a:ln>
        </p:spPr>
        <p:txBody>
          <a:bodyPr anchorCtr="0" anchor="ctr" bIns="48325" lIns="96675" spcFirstLastPara="1" rIns="96675" wrap="square" tIns="48325">
            <a:noAutofit/>
          </a:bodyPr>
          <a:lstStyle/>
          <a:p>
            <a:pPr indent="0" lvl="0" marL="0" rtl="0" algn="r">
              <a:lnSpc>
                <a:spcPct val="100000"/>
              </a:lnSpc>
              <a:spcBef>
                <a:spcPts val="0"/>
              </a:spcBef>
              <a:spcAft>
                <a:spcPts val="0"/>
              </a:spcAft>
              <a:buSzPts val="1268"/>
              <a:buNone/>
            </a:pPr>
            <a:fld id="{00000000-1234-1234-1234-123412341234}" type="slidenum">
              <a:rPr lang="en-US" sz="1268">
                <a:latin typeface="Verdana"/>
                <a:ea typeface="Verdana"/>
                <a:cs typeface="Verdana"/>
                <a:sym typeface="Verdana"/>
              </a:rPr>
              <a:t>‹#›</a:t>
            </a:fld>
            <a:r>
              <a:rPr lang="en-US" sz="1268">
                <a:latin typeface="Verdana"/>
                <a:ea typeface="Verdana"/>
                <a:cs typeface="Verdana"/>
                <a:sym typeface="Verdana"/>
              </a:rPr>
              <a:t> </a:t>
            </a:r>
            <a:endParaRPr sz="1268"/>
          </a:p>
        </p:txBody>
      </p:sp>
      <p:sp>
        <p:nvSpPr>
          <p:cNvPr id="118" name="Google Shape;118;p16"/>
          <p:cNvSpPr txBox="1"/>
          <p:nvPr/>
        </p:nvSpPr>
        <p:spPr>
          <a:xfrm>
            <a:off x="1602244" y="3565506"/>
            <a:ext cx="6647700" cy="362700"/>
          </a:xfrm>
          <a:prstGeom prst="rect">
            <a:avLst/>
          </a:prstGeom>
          <a:noFill/>
          <a:ln>
            <a:noFill/>
          </a:ln>
        </p:spPr>
        <p:txBody>
          <a:bodyPr anchorCtr="0" anchor="t" bIns="48325" lIns="96675" spcFirstLastPara="1" rIns="96675" wrap="square" tIns="48325">
            <a:noAutofit/>
          </a:bodyPr>
          <a:lstStyle/>
          <a:p>
            <a:pPr indent="0" lvl="0" marL="0" marR="0" rtl="0" algn="ctr">
              <a:lnSpc>
                <a:spcPct val="100000"/>
              </a:lnSpc>
              <a:spcBef>
                <a:spcPts val="0"/>
              </a:spcBef>
              <a:spcAft>
                <a:spcPts val="0"/>
              </a:spcAft>
              <a:buClr>
                <a:srgbClr val="000000"/>
              </a:buClr>
              <a:buSzPts val="3806"/>
              <a:buFont typeface="Arial"/>
              <a:buNone/>
            </a:pPr>
            <a:r>
              <a:t/>
            </a:r>
            <a:endParaRPr b="0" i="0" sz="3806" u="none" cap="none" strike="noStrike">
              <a:solidFill>
                <a:schemeClr val="dk1"/>
              </a:solidFill>
              <a:latin typeface="Calibri"/>
              <a:ea typeface="Calibri"/>
              <a:cs typeface="Calibri"/>
              <a:sym typeface="Calibri"/>
            </a:endParaRPr>
          </a:p>
        </p:txBody>
      </p:sp>
      <p:sp>
        <p:nvSpPr>
          <p:cNvPr id="119" name="Google Shape;119;p16"/>
          <p:cNvSpPr txBox="1"/>
          <p:nvPr>
            <p:ph type="title"/>
          </p:nvPr>
        </p:nvSpPr>
        <p:spPr>
          <a:xfrm>
            <a:off x="1712873" y="0"/>
            <a:ext cx="6123900" cy="676500"/>
          </a:xfrm>
          <a:prstGeom prst="rect">
            <a:avLst/>
          </a:prstGeom>
          <a:noFill/>
          <a:ln>
            <a:noFill/>
          </a:ln>
        </p:spPr>
        <p:txBody>
          <a:bodyPr anchorCtr="0" anchor="ctr" bIns="48325" lIns="96675" spcFirstLastPara="1" rIns="96675" wrap="square" tIns="48325">
            <a:normAutofit/>
          </a:bodyPr>
          <a:lstStyle/>
          <a:p>
            <a:pPr indent="0" lvl="0" marL="0" rtl="0" algn="ctr">
              <a:lnSpc>
                <a:spcPct val="100000"/>
              </a:lnSpc>
              <a:spcBef>
                <a:spcPts val="0"/>
              </a:spcBef>
              <a:spcAft>
                <a:spcPts val="0"/>
              </a:spcAft>
              <a:buClr>
                <a:schemeClr val="lt1"/>
              </a:buClr>
              <a:buSzPts val="2961"/>
              <a:buFont typeface="Verdana"/>
              <a:buNone/>
            </a:pPr>
            <a:r>
              <a:rPr lang="en-US" sz="2960"/>
              <a:t>Introduction</a:t>
            </a:r>
            <a:endParaRPr sz="2960">
              <a:latin typeface="Verdana"/>
              <a:ea typeface="Verdana"/>
              <a:cs typeface="Verdana"/>
              <a:sym typeface="Verdana"/>
            </a:endParaRPr>
          </a:p>
        </p:txBody>
      </p:sp>
      <p:sp>
        <p:nvSpPr>
          <p:cNvPr id="120" name="Google Shape;120;p16"/>
          <p:cNvSpPr txBox="1"/>
          <p:nvPr/>
        </p:nvSpPr>
        <p:spPr>
          <a:xfrm>
            <a:off x="523825" y="1060925"/>
            <a:ext cx="8502000" cy="4441200"/>
          </a:xfrm>
          <a:prstGeom prst="rect">
            <a:avLst/>
          </a:prstGeom>
          <a:noFill/>
          <a:ln>
            <a:noFill/>
          </a:ln>
        </p:spPr>
        <p:txBody>
          <a:bodyPr anchorCtr="0" anchor="t" bIns="96675" lIns="96675" spcFirstLastPara="1" rIns="96675" wrap="square" tIns="96675">
            <a:noAutofit/>
          </a:bodyPr>
          <a:lstStyle/>
          <a:p>
            <a:pPr indent="0" lvl="0" marL="0" marR="0" rtl="0" algn="just">
              <a:lnSpc>
                <a:spcPct val="150000"/>
              </a:lnSpc>
              <a:spcBef>
                <a:spcPts val="0"/>
              </a:spcBef>
              <a:spcAft>
                <a:spcPts val="0"/>
              </a:spcAft>
              <a:buClr>
                <a:srgbClr val="000000"/>
              </a:buClr>
              <a:buSzPts val="1700"/>
              <a:buFont typeface="Arial"/>
              <a:buNone/>
            </a:pPr>
            <a:r>
              <a:rPr lang="en-US" sz="1700">
                <a:solidFill>
                  <a:schemeClr val="dk1"/>
                </a:solidFill>
                <a:latin typeface="Roboto"/>
                <a:ea typeface="Roboto"/>
                <a:cs typeface="Roboto"/>
                <a:sym typeface="Roboto"/>
              </a:rPr>
              <a:t>This project is a secure Automated Document Verification System and is a high-integrity framework designed to digitize, extract, and validate sensitive academic and identity documents with zero-trust security. By combining spatial text mapping and LLM-based processing, with optional local deployment depending on security requirements, and a modular validation architecture capable of integrating with either centralized institutional registries or decentralized identity (Entra) systems, the system eliminates manual entry errors and mitigates the risk of document forgery while maintaining strict data residency.</a:t>
            </a:r>
            <a:endParaRPr sz="17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700"/>
              <a:buFont typeface="Arial"/>
              <a:buNone/>
            </a:pPr>
            <a:r>
              <a:t/>
            </a:r>
            <a:endParaRPr sz="17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 calcmode="lin" valueType="num">
                                      <p:cBhvr additive="base">
                                        <p:cTn dur="500"/>
                                        <p:tgtEl>
                                          <p:spTgt spid="11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Motivation</a:t>
            </a:r>
            <a:endParaRPr sz="3200"/>
          </a:p>
        </p:txBody>
      </p:sp>
      <p:sp>
        <p:nvSpPr>
          <p:cNvPr id="127" name="Google Shape;127;p17"/>
          <p:cNvSpPr txBox="1"/>
          <p:nvPr>
            <p:ph idx="1" type="body"/>
          </p:nvPr>
        </p:nvSpPr>
        <p:spPr>
          <a:xfrm>
            <a:off x="576475" y="1059326"/>
            <a:ext cx="8353200" cy="40737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400"/>
              </a:spcBef>
              <a:spcAft>
                <a:spcPts val="0"/>
              </a:spcAft>
              <a:buSzPts val="2000"/>
              <a:buNone/>
            </a:pPr>
            <a:r>
              <a:rPr lang="en-US" sz="1700">
                <a:latin typeface="Roboto"/>
                <a:ea typeface="Roboto"/>
                <a:cs typeface="Roboto"/>
                <a:sym typeface="Roboto"/>
              </a:rPr>
              <a:t>The increasing reliance on digital documents in academic and professional processes has created a need for faster and more reliable verification methods. Manual verification is often time-consuming and prone to human error, making it difficult to handle large volumes of documents efficiently. Additionally, automated systems must ensure that extracted information is accurate and that sensitive data is handled securely. This project is motivated by the need to develop a system that can automate document processing while maintaining trust, accuracy, and secure handling of information.</a:t>
            </a:r>
            <a:endParaRPr sz="1700">
              <a:latin typeface="Roboto"/>
              <a:ea typeface="Roboto"/>
              <a:cs typeface="Roboto"/>
              <a:sym typeface="Roboto"/>
            </a:endParaRPr>
          </a:p>
        </p:txBody>
      </p:sp>
      <p:sp>
        <p:nvSpPr>
          <p:cNvPr id="128" name="Google Shape;128;p17"/>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Literature Review</a:t>
            </a:r>
            <a:endParaRPr/>
          </a:p>
        </p:txBody>
      </p:sp>
      <p:sp>
        <p:nvSpPr>
          <p:cNvPr id="135" name="Google Shape;135;p18"/>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graphicFrame>
        <p:nvGraphicFramePr>
          <p:cNvPr id="136" name="Google Shape;136;p18"/>
          <p:cNvGraphicFramePr/>
          <p:nvPr/>
        </p:nvGraphicFramePr>
        <p:xfrm>
          <a:off x="382450" y="744700"/>
          <a:ext cx="3000000" cy="3000000"/>
        </p:xfrm>
        <a:graphic>
          <a:graphicData uri="http://schemas.openxmlformats.org/drawingml/2006/table">
            <a:tbl>
              <a:tblPr>
                <a:noFill/>
                <a:tableStyleId>{07D81961-9F3A-43B7-8F3F-ED98EBC6FF36}</a:tableStyleId>
              </a:tblPr>
              <a:tblGrid>
                <a:gridCol w="436325"/>
                <a:gridCol w="1411525"/>
                <a:gridCol w="1279775"/>
                <a:gridCol w="1619100"/>
                <a:gridCol w="1456375"/>
                <a:gridCol w="2558450"/>
              </a:tblGrid>
              <a:tr h="55652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Roboto"/>
                          <a:ea typeface="Roboto"/>
                          <a:cs typeface="Roboto"/>
                          <a:sym typeface="Roboto"/>
                        </a:rPr>
                        <a:t>Sr. No</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Abc et al.</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[2024]</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1">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Objectives claimed by authors in their paper </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Methodologies used</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Outcomes (from result &amp; Discussion)</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Gap Identified (Generally from Conclusion &amp; Future scope)</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Roboto"/>
                          <a:ea typeface="Roboto"/>
                          <a:cs typeface="Roboto"/>
                          <a:sym typeface="Roboto"/>
                        </a:rPr>
                        <a:t>1.</a:t>
                      </a:r>
                      <a:endParaRPr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Berrios Moya et al. [2025]</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To create a secure, privacy-preserving academic record verification system.</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Utilizes zkEVM smart contracts with DIDs for identity management and IPFS for decentralized storage.</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High security and privacy; prevents credential fraud while keeping student data private using Zero-Knowledge Proofs.</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100"/>
                        <a:buFont typeface="Arial"/>
                        <a:buNone/>
                      </a:pPr>
                      <a:r>
                        <a:rPr lang="en-US" sz="1200">
                          <a:solidFill>
                            <a:schemeClr val="dk1"/>
                          </a:solidFill>
                          <a:latin typeface="Roboto"/>
                          <a:ea typeface="Roboto"/>
                          <a:cs typeface="Roboto"/>
                          <a:sym typeface="Roboto"/>
                        </a:rPr>
                        <a:t>High computational cost for generating ZK proofs; potential scalability issues on public blockchains.</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2.</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Sinha &amp; Rekha [2024]</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To digitize documents and extract structured information from scanned and digital files.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Combines OCR engines with layout-aware libraries and LLMs to extract key-value pairs through contextual analysis.</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Accurate key-value extraction and improved contextual understanding over traditional rule-based methods.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Difficulty in handling complex layouts and a heavy dependency on initial OCR scan quality.</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Literature Review</a:t>
            </a:r>
            <a:endParaRPr/>
          </a:p>
        </p:txBody>
      </p:sp>
      <p:sp>
        <p:nvSpPr>
          <p:cNvPr id="143" name="Google Shape;143;p19"/>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graphicFrame>
        <p:nvGraphicFramePr>
          <p:cNvPr id="144" name="Google Shape;144;p19"/>
          <p:cNvGraphicFramePr/>
          <p:nvPr/>
        </p:nvGraphicFramePr>
        <p:xfrm>
          <a:off x="382450" y="695850"/>
          <a:ext cx="3000000" cy="3000000"/>
        </p:xfrm>
        <a:graphic>
          <a:graphicData uri="http://schemas.openxmlformats.org/drawingml/2006/table">
            <a:tbl>
              <a:tblPr>
                <a:noFill/>
                <a:tableStyleId>{07D81961-9F3A-43B7-8F3F-ED98EBC6FF36}</a:tableStyleId>
              </a:tblPr>
              <a:tblGrid>
                <a:gridCol w="448525"/>
                <a:gridCol w="1235400"/>
                <a:gridCol w="1590250"/>
                <a:gridCol w="1537100"/>
                <a:gridCol w="1511350"/>
                <a:gridCol w="2438925"/>
              </a:tblGrid>
              <a:tr h="9926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Roboto"/>
                          <a:ea typeface="Roboto"/>
                          <a:cs typeface="Roboto"/>
                          <a:sym typeface="Roboto"/>
                        </a:rPr>
                        <a:t>Sr. No</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Abc et al.</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[2024]</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1">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Objectives claimed by authors in their paper </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Methodologies used</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Outcomes (from result &amp; Discussion)</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Gap Identified (Generally from Conclusion &amp; Future scope)</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2798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3.</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Sajid et al. [2022]</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To integrate AI, Blockchain, and RPA for transparent and automated credential verification.</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Employs AI for authenticity analysis, Blockchain for immutable storage, and RPA for automated verification workflows.</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A hybrid framework that reduces manual administrative work and increases trust in higher education.</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Lack of empirical validation through real-world pilot projects and high technical integration complexity.</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0997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4.</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Ji [2021]</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To design a student data acquisition and extraction platform using big data.</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Implements big data clustering and AI-driven extraction for automated monitoring and decision-making.</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Real-time monitoring of student trends and automated decision-making for educational institutions.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Privacy concerns regarding mass data collection and potential bias in AI-driven analysis.</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Literature Review</a:t>
            </a:r>
            <a:endParaRPr/>
          </a:p>
        </p:txBody>
      </p:sp>
      <p:sp>
        <p:nvSpPr>
          <p:cNvPr id="151" name="Google Shape;151;p20"/>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graphicFrame>
        <p:nvGraphicFramePr>
          <p:cNvPr id="152" name="Google Shape;152;p20"/>
          <p:cNvGraphicFramePr/>
          <p:nvPr/>
        </p:nvGraphicFramePr>
        <p:xfrm>
          <a:off x="382450" y="695850"/>
          <a:ext cx="3000000" cy="3000000"/>
        </p:xfrm>
        <a:graphic>
          <a:graphicData uri="http://schemas.openxmlformats.org/drawingml/2006/table">
            <a:tbl>
              <a:tblPr>
                <a:noFill/>
                <a:tableStyleId>{07D81961-9F3A-43B7-8F3F-ED98EBC6FF36}</a:tableStyleId>
              </a:tblPr>
              <a:tblGrid>
                <a:gridCol w="448525"/>
                <a:gridCol w="1340925"/>
                <a:gridCol w="1484725"/>
                <a:gridCol w="1402850"/>
                <a:gridCol w="1693550"/>
                <a:gridCol w="2390975"/>
              </a:tblGrid>
              <a:tr h="9926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Roboto"/>
                          <a:ea typeface="Roboto"/>
                          <a:cs typeface="Roboto"/>
                          <a:sym typeface="Roboto"/>
                        </a:rPr>
                        <a:t>Sr. No</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Abc et al.</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[2024]</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1">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Objectives claimed by authors in their paper</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Methodologies used</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Outcomes (from result &amp; Discussion)</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Gap Identified (Generally from Conclusion &amp; Future scope)</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2798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5.</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Ramakrishnan et al. [2012]</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K</a:t>
                      </a:r>
                      <a:r>
                        <a:rPr lang="en-US" sz="1200">
                          <a:latin typeface="Roboto"/>
                          <a:ea typeface="Roboto"/>
                          <a:cs typeface="Roboto"/>
                          <a:sym typeface="Roboto"/>
                        </a:rPr>
                        <a:t>To extract layout-aware text from scientific PDF articles for text mining.</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Uses spatial layout processing to detect text blocks, classified via rule-based methods into rhetorical categories.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Achieved a 0.91 F1-score in accurately identifying logical units (e.g., Intro, Methods) in scientific PDFs.</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a:solidFill>
                            <a:schemeClr val="dk1"/>
                          </a:solidFill>
                        </a:rPr>
                        <a:t>Limited to textual content; cannot process multi-modal data like images, tables, or formulas.</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5701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6.</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Li et al. [2021]</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To automate electronic resume information extraction with high efficiency.</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Integrates a BERT model for feature extraction, BiLSTM for context abstraction, and a CRF layer for sequence decoding.</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Superior performance in Named Entity Recognition (NER) for resume parsing compared to traditional models.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Performance drops significantly on resumes with unconventional or heavily graphical layouts.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aphicFrame>
        <p:nvGraphicFramePr>
          <p:cNvPr id="158" name="Google Shape;158;p21"/>
          <p:cNvGraphicFramePr/>
          <p:nvPr/>
        </p:nvGraphicFramePr>
        <p:xfrm>
          <a:off x="382450" y="695850"/>
          <a:ext cx="3000000" cy="3000000"/>
        </p:xfrm>
        <a:graphic>
          <a:graphicData uri="http://schemas.openxmlformats.org/drawingml/2006/table">
            <a:tbl>
              <a:tblPr>
                <a:noFill/>
                <a:tableStyleId>{07D81961-9F3A-43B7-8F3F-ED98EBC6FF36}</a:tableStyleId>
              </a:tblPr>
              <a:tblGrid>
                <a:gridCol w="448525"/>
                <a:gridCol w="1570300"/>
                <a:gridCol w="1426300"/>
                <a:gridCol w="1679250"/>
                <a:gridCol w="1576775"/>
                <a:gridCol w="2060400"/>
              </a:tblGrid>
              <a:tr h="83762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Roboto"/>
                          <a:ea typeface="Roboto"/>
                          <a:cs typeface="Roboto"/>
                          <a:sym typeface="Roboto"/>
                        </a:rPr>
                        <a:t>Sr. No</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Abc et al.</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[2024]</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1">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Objectives claimed by authors in their paper</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Methodologies used</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Outcomes (from result &amp; Discussion)</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Gap Identified (Generally from Conclusion &amp; Future scope)</a:t>
                      </a:r>
                      <a:endParaRPr b="1">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3801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7.</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23000"/>
                        </a:lnSpc>
                        <a:spcBef>
                          <a:spcPts val="0"/>
                        </a:spcBef>
                        <a:spcAft>
                          <a:spcPts val="0"/>
                        </a:spcAft>
                        <a:buClr>
                          <a:srgbClr val="000000"/>
                        </a:buClr>
                        <a:buSzPts val="1200"/>
                        <a:buFont typeface="Arial"/>
                        <a:buNone/>
                      </a:pPr>
                      <a:r>
                        <a:rPr lang="en-US" sz="1200">
                          <a:solidFill>
                            <a:schemeClr val="dk1"/>
                          </a:solidFill>
                          <a:highlight>
                            <a:srgbClr val="FFFFFF"/>
                          </a:highlight>
                          <a:latin typeface="Roboto"/>
                          <a:ea typeface="Roboto"/>
                          <a:cs typeface="Roboto"/>
                          <a:sym typeface="Roboto"/>
                        </a:rPr>
                        <a:t>Ateia et al. [2024]</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200">
                          <a:solidFill>
                            <a:schemeClr val="dk1"/>
                          </a:solidFill>
                          <a:highlight>
                            <a:schemeClr val="lt1"/>
                          </a:highlight>
                          <a:latin typeface="Roboto"/>
                          <a:ea typeface="Roboto"/>
                          <a:cs typeface="Roboto"/>
                          <a:sym typeface="Roboto"/>
                        </a:rPr>
                        <a:t>To support scientific workflows through LLM-based information extraction.</a:t>
                      </a:r>
                      <a:endParaRPr sz="1200">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200">
                        <a:solidFill>
                          <a:schemeClr val="dk1"/>
                        </a:solidFill>
                        <a:highlight>
                          <a:schemeClr val="lt1"/>
                        </a:highlight>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Leverages few-shot learning with LLMs combined with prompt engineering and Retrieval-Augmented Generation (RAG).</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highlight>
                            <a:srgbClr val="FFFFFF"/>
                          </a:highlight>
                          <a:latin typeface="Roboto"/>
                          <a:ea typeface="Roboto"/>
                          <a:cs typeface="Roboto"/>
                          <a:sym typeface="Roboto"/>
                        </a:rPr>
                        <a:t>High accuracy in extracting specific entities from research papers, reducing manual review time.</a:t>
                      </a:r>
                      <a:endParaRPr sz="1200">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highlight>
                          <a:srgbClr val="FFFFFF"/>
                        </a:highlight>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Risks of LLM hallucinations and difficulty in processing very long documents due to token limits.</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2127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8.</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23000"/>
                        </a:lnSpc>
                        <a:spcBef>
                          <a:spcPts val="0"/>
                        </a:spcBef>
                        <a:spcAft>
                          <a:spcPts val="0"/>
                        </a:spcAft>
                        <a:buClr>
                          <a:schemeClr val="dk1"/>
                        </a:buClr>
                        <a:buSzPts val="1100"/>
                        <a:buFont typeface="Arial"/>
                        <a:buNone/>
                      </a:pPr>
                      <a:r>
                        <a:rPr lang="en-US" sz="1200">
                          <a:solidFill>
                            <a:schemeClr val="dk1"/>
                          </a:solidFill>
                          <a:highlight>
                            <a:srgbClr val="FFFFFF"/>
                          </a:highlight>
                          <a:latin typeface="Roboto"/>
                          <a:ea typeface="Roboto"/>
                          <a:cs typeface="Roboto"/>
                          <a:sym typeface="Roboto"/>
                        </a:rPr>
                        <a:t>NICEDT [2024] (Paper 072)</a:t>
                      </a:r>
                      <a:endParaRPr sz="1200">
                        <a:solidFill>
                          <a:schemeClr val="dk1"/>
                        </a:solidFill>
                        <a:highlight>
                          <a:srgbClr val="FFFFFF"/>
                        </a:highlight>
                        <a:latin typeface="Roboto"/>
                        <a:ea typeface="Roboto"/>
                        <a:cs typeface="Roboto"/>
                        <a:sym typeface="Roboto"/>
                      </a:endParaRPr>
                    </a:p>
                    <a:p>
                      <a:pPr indent="0" lvl="0" marL="0" marR="0" rtl="0" algn="l">
                        <a:lnSpc>
                          <a:spcPct val="123000"/>
                        </a:lnSpc>
                        <a:spcBef>
                          <a:spcPts val="0"/>
                        </a:spcBef>
                        <a:spcAft>
                          <a:spcPts val="0"/>
                        </a:spcAft>
                        <a:buClr>
                          <a:schemeClr val="dk1"/>
                        </a:buClr>
                        <a:buSzPts val="1100"/>
                        <a:buFont typeface="Arial"/>
                        <a:buNone/>
                      </a:pPr>
                      <a:r>
                        <a:t/>
                      </a:r>
                      <a:endParaRPr sz="1200">
                        <a:solidFill>
                          <a:schemeClr val="dk1"/>
                        </a:solidFill>
                        <a:highlight>
                          <a:srgbClr val="FFFFFF"/>
                        </a:highlight>
                        <a:latin typeface="Roboto"/>
                        <a:ea typeface="Roboto"/>
                        <a:cs typeface="Roboto"/>
                        <a:sym typeface="Roboto"/>
                      </a:endParaRPr>
                    </a:p>
                    <a:p>
                      <a:pPr indent="0" lvl="0" marL="0" marR="0" rtl="0" algn="l">
                        <a:lnSpc>
                          <a:spcPct val="123000"/>
                        </a:lnSpc>
                        <a:spcBef>
                          <a:spcPts val="0"/>
                        </a:spcBef>
                        <a:spcAft>
                          <a:spcPts val="0"/>
                        </a:spcAft>
                        <a:buClr>
                          <a:schemeClr val="dk1"/>
                        </a:buClr>
                        <a:buSzPts val="1100"/>
                        <a:buFont typeface="Arial"/>
                        <a:buNone/>
                      </a:pPr>
                      <a:r>
                        <a:t/>
                      </a:r>
                      <a:endParaRPr sz="1200">
                        <a:solidFill>
                          <a:schemeClr val="dk1"/>
                        </a:solidFill>
                        <a:highlight>
                          <a:srgbClr val="FFFFFF"/>
                        </a:highlight>
                        <a:latin typeface="Roboto"/>
                        <a:ea typeface="Roboto"/>
                        <a:cs typeface="Roboto"/>
                        <a:sym typeface="Roboto"/>
                      </a:endParaRPr>
                    </a:p>
                    <a:p>
                      <a:pPr indent="0" lvl="0" marL="0" marR="0" rtl="0" algn="l">
                        <a:lnSpc>
                          <a:spcPct val="100000"/>
                        </a:lnSpc>
                        <a:spcBef>
                          <a:spcPts val="1700"/>
                        </a:spcBef>
                        <a:spcAft>
                          <a:spcPts val="0"/>
                        </a:spcAft>
                        <a:buClr>
                          <a:srgbClr val="000000"/>
                        </a:buClr>
                        <a:buSzPts val="1200"/>
                        <a:buFont typeface="Arial"/>
                        <a:buNone/>
                      </a:pPr>
                      <a:r>
                        <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To develop a secure document verification system for certificates.</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Uses a hybrid encryption scheme (RSA/AES) supported by digital signatures and a centralized verification API.</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rgbClr val="222222"/>
                          </a:solidFill>
                          <a:highlight>
                            <a:srgbClr val="FFFFFF"/>
                          </a:highlight>
                          <a:latin typeface="Roboto"/>
                          <a:ea typeface="Roboto"/>
                          <a:cs typeface="Roboto"/>
                          <a:sym typeface="Roboto"/>
                        </a:rPr>
                        <a:t>Tamper-evident digital certificates providing a fast, one-click verification process for employers.</a:t>
                      </a:r>
                      <a:endParaRPr sz="1200">
                        <a:solidFill>
                          <a:srgbClr val="222222"/>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rgbClr val="222222"/>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rgbClr val="222222"/>
                        </a:solidFill>
                        <a:highlight>
                          <a:srgbClr val="FFFFFF"/>
                        </a:highlight>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solidFill>
                            <a:schemeClr val="dk1"/>
                          </a:solidFill>
                          <a:latin typeface="Roboto"/>
                          <a:ea typeface="Roboto"/>
                          <a:cs typeface="Roboto"/>
                          <a:sym typeface="Roboto"/>
                        </a:rPr>
                        <a:t>Centralized database creates a single point of failure and lacks blockchain's decentralization.</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bl>
          </a:graphicData>
        </a:graphic>
      </p:graphicFrame>
      <p:sp>
        <p:nvSpPr>
          <p:cNvPr id="159" name="Google Shape;159;p21"/>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Literature Review</a:t>
            </a:r>
            <a:endParaRPr/>
          </a:p>
        </p:txBody>
      </p:sp>
      <p:sp>
        <p:nvSpPr>
          <p:cNvPr id="160" name="Google Shape;160;p21"/>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Literature Review</a:t>
            </a:r>
            <a:endParaRPr/>
          </a:p>
        </p:txBody>
      </p:sp>
      <p:sp>
        <p:nvSpPr>
          <p:cNvPr id="167" name="Google Shape;167;p22"/>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graphicFrame>
        <p:nvGraphicFramePr>
          <p:cNvPr id="168" name="Google Shape;168;p22"/>
          <p:cNvGraphicFramePr/>
          <p:nvPr/>
        </p:nvGraphicFramePr>
        <p:xfrm>
          <a:off x="382450" y="695850"/>
          <a:ext cx="3000000" cy="3000000"/>
        </p:xfrm>
        <a:graphic>
          <a:graphicData uri="http://schemas.openxmlformats.org/drawingml/2006/table">
            <a:tbl>
              <a:tblPr>
                <a:noFill/>
                <a:tableStyleId>{07D81961-9F3A-43B7-8F3F-ED98EBC6FF36}</a:tableStyleId>
              </a:tblPr>
              <a:tblGrid>
                <a:gridCol w="448525"/>
                <a:gridCol w="1301725"/>
                <a:gridCol w="1579775"/>
                <a:gridCol w="1794350"/>
                <a:gridCol w="1624725"/>
                <a:gridCol w="2012450"/>
              </a:tblGrid>
              <a:tr h="10402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Roboto"/>
                          <a:ea typeface="Roboto"/>
                          <a:cs typeface="Roboto"/>
                          <a:sym typeface="Roboto"/>
                        </a:rPr>
                        <a:t>Sr. No</a:t>
                      </a:r>
                      <a:endParaRPr b="1" sz="14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Abc et al.</a:t>
                      </a:r>
                      <a:endParaRPr b="1">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[2024]</a:t>
                      </a:r>
                      <a:endParaRPr b="1">
                        <a:solidFill>
                          <a:schemeClr val="dk1"/>
                        </a:solidFill>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Objectives claimed by authors in their paper </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Methodologies used</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Outcomes (from result &amp; Discussion)</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a:latin typeface="Roboto"/>
                          <a:ea typeface="Roboto"/>
                          <a:cs typeface="Roboto"/>
                          <a:sym typeface="Roboto"/>
                        </a:rPr>
                        <a:t>Gap Identified (Generally from Conclusion &amp; Future scope)</a:t>
                      </a:r>
                      <a:endParaRPr b="1">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3801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9.</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Tangwam et al. [2025]</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To evaluate challenges in automated data extraction in complex environments.</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Employs CNN-based deep learning paired with specialized shadow and noise filtering algorithms.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Improved classification accuracy and reliability in shadowed or low-quality data environments.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High hardware requirements and extreme sensitivity to environmental noise in data sources.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r h="21688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latin typeface="Roboto"/>
                          <a:ea typeface="Roboto"/>
                          <a:cs typeface="Roboto"/>
                          <a:sym typeface="Roboto"/>
                        </a:rPr>
                        <a:t>10.</a:t>
                      </a:r>
                      <a:endParaRPr sz="1200" u="none" cap="none" strike="noStrike">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Shrimal et al. [2025]</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Aim is to fix unreliable LLM data extraction by treating JSON schemas as dynamic, optimizable interfaces rather than static human contracts.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PARSE uses ARCHITECT for iterative schema refinement and SCOPE for reflection-based extraction with guardrails. RELAY maintains backward compatibility by generating transformation code.</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The system achieved a 64.7% accuracy boost on web data and a 92% error reduction in the first retry. It also reduced latency by 4.05s by minimizing the need for multiple reflection rounds.</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a:latin typeface="Roboto"/>
                          <a:ea typeface="Roboto"/>
                          <a:cs typeface="Roboto"/>
                          <a:sym typeface="Roboto"/>
                        </a:rPr>
                        <a:t>The iterative process is computationally expensive for complex schemas and requires high-quality seed data. Additionally, the current framework does not yet support multi-modal (text + image) extraction.</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sz="1200">
                        <a:latin typeface="Roboto"/>
                        <a:ea typeface="Roboto"/>
                        <a:cs typeface="Roboto"/>
                        <a:sym typeface="Roboto"/>
                      </a:endParaRPr>
                    </a:p>
                  </a:txBody>
                  <a:tcPr marT="91425" marB="91425" marR="91425" marL="91425">
                    <a:lnL cap="flat" cmpd="sng" w="9525">
                      <a:solidFill>
                        <a:srgbClr val="3770B5"/>
                      </a:solidFill>
                      <a:prstDash val="solid"/>
                      <a:round/>
                      <a:headEnd len="sm" w="sm" type="none"/>
                      <a:tailEnd len="sm" w="sm" type="none"/>
                    </a:lnL>
                    <a:lnR cap="flat" cmpd="sng" w="9525">
                      <a:solidFill>
                        <a:srgbClr val="3770B5"/>
                      </a:solidFill>
                      <a:prstDash val="solid"/>
                      <a:round/>
                      <a:headEnd len="sm" w="sm" type="none"/>
                      <a:tailEnd len="sm" w="sm" type="none"/>
                    </a:lnR>
                    <a:lnT cap="flat" cmpd="sng" w="9525">
                      <a:solidFill>
                        <a:srgbClr val="3770B5"/>
                      </a:solidFill>
                      <a:prstDash val="solid"/>
                      <a:round/>
                      <a:headEnd len="sm" w="sm" type="none"/>
                      <a:tailEnd len="sm" w="sm" type="none"/>
                    </a:lnT>
                    <a:lnB cap="flat" cmpd="sng" w="9525">
                      <a:solidFill>
                        <a:srgbClr val="3770B5"/>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Objectives</a:t>
            </a:r>
            <a:endParaRPr/>
          </a:p>
        </p:txBody>
      </p:sp>
      <p:sp>
        <p:nvSpPr>
          <p:cNvPr id="175" name="Google Shape;175;p23"/>
          <p:cNvSpPr txBox="1"/>
          <p:nvPr>
            <p:ph idx="1" type="body"/>
          </p:nvPr>
        </p:nvSpPr>
        <p:spPr>
          <a:xfrm>
            <a:off x="578575" y="1082624"/>
            <a:ext cx="8353200" cy="5390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400"/>
              </a:spcBef>
              <a:spcAft>
                <a:spcPts val="0"/>
              </a:spcAft>
              <a:buSzPts val="2000"/>
              <a:buNone/>
            </a:pPr>
            <a:r>
              <a:rPr lang="en-US" sz="1700">
                <a:latin typeface="Roboto"/>
                <a:ea typeface="Roboto"/>
                <a:cs typeface="Roboto"/>
                <a:sym typeface="Roboto"/>
              </a:rPr>
              <a:t>The central mission of this initiative is to harmonize high-precision automation with uncompromising data privacy protocols.</a:t>
            </a:r>
            <a:endParaRPr sz="1700">
              <a:latin typeface="Roboto"/>
              <a:ea typeface="Roboto"/>
              <a:cs typeface="Roboto"/>
              <a:sym typeface="Roboto"/>
            </a:endParaRPr>
          </a:p>
          <a:p>
            <a:pPr indent="-336550" lvl="0" marL="457200" rtl="0" algn="just">
              <a:lnSpc>
                <a:spcPct val="150000"/>
              </a:lnSpc>
              <a:spcBef>
                <a:spcPts val="400"/>
              </a:spcBef>
              <a:spcAft>
                <a:spcPts val="0"/>
              </a:spcAft>
              <a:buSzPts val="1700"/>
              <a:buFont typeface="Roboto"/>
              <a:buChar char="●"/>
            </a:pPr>
            <a:r>
              <a:rPr lang="en-US" sz="1700">
                <a:latin typeface="Roboto"/>
                <a:ea typeface="Roboto"/>
                <a:cs typeface="Roboto"/>
                <a:sym typeface="Roboto"/>
              </a:rPr>
              <a:t>Generic AI Detection Agent: Engineering an intelligent agent capable of identifying critical verifiable data points—such as names, registration numbers, and dates—across various document types without the need for static, hardcoded templates.</a:t>
            </a:r>
            <a:endParaRPr sz="1700">
              <a:latin typeface="Roboto"/>
              <a:ea typeface="Roboto"/>
              <a:cs typeface="Roboto"/>
              <a:sym typeface="Roboto"/>
            </a:endParaRPr>
          </a:p>
          <a:p>
            <a:pPr indent="-336550" lvl="0" marL="457200" rtl="0" algn="just">
              <a:lnSpc>
                <a:spcPct val="150000"/>
              </a:lnSpc>
              <a:spcBef>
                <a:spcPts val="0"/>
              </a:spcBef>
              <a:spcAft>
                <a:spcPts val="0"/>
              </a:spcAft>
              <a:buSzPts val="1700"/>
              <a:buFont typeface="Roboto"/>
              <a:buChar char="●"/>
            </a:pPr>
            <a:r>
              <a:rPr lang="en-US" sz="1700">
                <a:latin typeface="Roboto"/>
                <a:ea typeface="Roboto"/>
                <a:cs typeface="Roboto"/>
                <a:sym typeface="Roboto"/>
              </a:rPr>
              <a:t>Privacy-First "Zero-Knowledge" Architecture: Implementing a local extraction model (e.g., Llama-3) to process data entirely within a secure local boundary, ensuring that sensitive Student Personally Identifiable Information (PII) is never exposed to public cloud APIs.</a:t>
            </a:r>
            <a:endParaRPr sz="1700">
              <a:latin typeface="Roboto"/>
              <a:ea typeface="Roboto"/>
              <a:cs typeface="Roboto"/>
              <a:sym typeface="Roboto"/>
            </a:endParaRPr>
          </a:p>
          <a:p>
            <a:pPr indent="-336550" lvl="0" marL="457200" rtl="0" algn="just">
              <a:lnSpc>
                <a:spcPct val="150000"/>
              </a:lnSpc>
              <a:spcBef>
                <a:spcPts val="0"/>
              </a:spcBef>
              <a:spcAft>
                <a:spcPts val="0"/>
              </a:spcAft>
              <a:buSzPts val="1700"/>
              <a:buFont typeface="Roboto"/>
              <a:buChar char="●"/>
            </a:pPr>
            <a:r>
              <a:rPr lang="en-US" sz="1700">
                <a:latin typeface="Roboto"/>
                <a:ea typeface="Roboto"/>
                <a:cs typeface="Roboto"/>
                <a:sym typeface="Roboto"/>
              </a:rPr>
              <a:t>Spatial Grounding for Hallucination Prevention: Validating AI-generated extractions by mathematically linking every word back to its exact physical [x, y] coordinates on the document, providing a "physical proof" of accuracy.</a:t>
            </a:r>
            <a:endParaRPr sz="1700">
              <a:latin typeface="Roboto"/>
              <a:ea typeface="Roboto"/>
              <a:cs typeface="Roboto"/>
              <a:sym typeface="Roboto"/>
            </a:endParaRPr>
          </a:p>
        </p:txBody>
      </p:sp>
      <p:sp>
        <p:nvSpPr>
          <p:cNvPr id="176" name="Google Shape;176;p23"/>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Problem Statement</a:t>
            </a:r>
            <a:endParaRPr/>
          </a:p>
        </p:txBody>
      </p:sp>
      <p:sp>
        <p:nvSpPr>
          <p:cNvPr id="183" name="Google Shape;183;p24"/>
          <p:cNvSpPr txBox="1"/>
          <p:nvPr>
            <p:ph idx="1" type="body"/>
          </p:nvPr>
        </p:nvSpPr>
        <p:spPr>
          <a:xfrm>
            <a:off x="585200" y="1058176"/>
            <a:ext cx="8353200" cy="38679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400"/>
              </a:spcBef>
              <a:spcAft>
                <a:spcPts val="0"/>
              </a:spcAft>
              <a:buSzPts val="2000"/>
              <a:buNone/>
            </a:pPr>
            <a:r>
              <a:rPr lang="en-US" sz="1700">
                <a:latin typeface="Roboto"/>
                <a:ea typeface="Roboto"/>
                <a:cs typeface="Roboto"/>
                <a:sym typeface="Roboto"/>
              </a:rPr>
              <a:t>Current document verification processes in academic and professional environments suffer from three primary vulnerabilities:</a:t>
            </a:r>
            <a:endParaRPr sz="1700">
              <a:latin typeface="Roboto"/>
              <a:ea typeface="Roboto"/>
              <a:cs typeface="Roboto"/>
              <a:sym typeface="Roboto"/>
            </a:endParaRPr>
          </a:p>
          <a:p>
            <a:pPr indent="-336550" lvl="0" marL="457200" rtl="0" algn="just">
              <a:lnSpc>
                <a:spcPct val="150000"/>
              </a:lnSpc>
              <a:spcBef>
                <a:spcPts val="400"/>
              </a:spcBef>
              <a:spcAft>
                <a:spcPts val="0"/>
              </a:spcAft>
              <a:buSzPts val="1700"/>
              <a:buFont typeface="Roboto"/>
              <a:buChar char="●"/>
            </a:pPr>
            <a:r>
              <a:rPr lang="en-US" sz="1700">
                <a:latin typeface="Roboto"/>
                <a:ea typeface="Roboto"/>
                <a:cs typeface="Roboto"/>
                <a:sym typeface="Roboto"/>
              </a:rPr>
              <a:t>Privacy Risks: Uploading sensitive student data to public cloud AI APIs (e.g.,  GPT-4) risks data leaks and non-compliance with privacy regulations.</a:t>
            </a:r>
            <a:endParaRPr sz="1700">
              <a:latin typeface="Roboto"/>
              <a:ea typeface="Roboto"/>
              <a:cs typeface="Roboto"/>
              <a:sym typeface="Roboto"/>
            </a:endParaRPr>
          </a:p>
          <a:p>
            <a:pPr indent="-336550" lvl="0" marL="457200" rtl="0" algn="just">
              <a:lnSpc>
                <a:spcPct val="150000"/>
              </a:lnSpc>
              <a:spcBef>
                <a:spcPts val="0"/>
              </a:spcBef>
              <a:spcAft>
                <a:spcPts val="0"/>
              </a:spcAft>
              <a:buSzPts val="1700"/>
              <a:buFont typeface="Roboto"/>
              <a:buChar char="●"/>
            </a:pPr>
            <a:r>
              <a:rPr lang="en-US" sz="1700">
                <a:latin typeface="Roboto"/>
                <a:ea typeface="Roboto"/>
                <a:cs typeface="Roboto"/>
                <a:sym typeface="Roboto"/>
              </a:rPr>
              <a:t>Hallucination &amp; Accuracy: Standard AI extraction often "hallucinates" data, creating a need for physical grounding—linking digital data back to its exact coordinate on the original paper.</a:t>
            </a:r>
            <a:endParaRPr sz="1700">
              <a:latin typeface="Roboto"/>
              <a:ea typeface="Roboto"/>
              <a:cs typeface="Roboto"/>
              <a:sym typeface="Roboto"/>
            </a:endParaRPr>
          </a:p>
          <a:p>
            <a:pPr indent="-336550" lvl="0" marL="457200" rtl="0" algn="just">
              <a:lnSpc>
                <a:spcPct val="150000"/>
              </a:lnSpc>
              <a:spcBef>
                <a:spcPts val="0"/>
              </a:spcBef>
              <a:spcAft>
                <a:spcPts val="0"/>
              </a:spcAft>
              <a:buSzPts val="1700"/>
              <a:buFont typeface="Roboto"/>
              <a:buChar char="●"/>
            </a:pPr>
            <a:r>
              <a:rPr lang="en-US" sz="1700">
                <a:latin typeface="Roboto"/>
                <a:ea typeface="Roboto"/>
                <a:cs typeface="Roboto"/>
                <a:sym typeface="Roboto"/>
              </a:rPr>
              <a:t>Verification Gaps: Extraction alone does not prove authenticity. There is a lack of automated "Truth Anchoring" against official registries or decentralized identity (DID) systems.</a:t>
            </a:r>
            <a:endParaRPr sz="1700">
              <a:latin typeface="Roboto"/>
              <a:ea typeface="Roboto"/>
              <a:cs typeface="Roboto"/>
              <a:sym typeface="Roboto"/>
            </a:endParaRPr>
          </a:p>
        </p:txBody>
      </p:sp>
      <p:sp>
        <p:nvSpPr>
          <p:cNvPr id="184" name="Google Shape;184;p24"/>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Proposed Methodology</a:t>
            </a:r>
            <a:endParaRPr/>
          </a:p>
        </p:txBody>
      </p:sp>
      <p:sp>
        <p:nvSpPr>
          <p:cNvPr id="191" name="Google Shape;191;p25"/>
          <p:cNvSpPr txBox="1"/>
          <p:nvPr>
            <p:ph idx="1" type="body"/>
          </p:nvPr>
        </p:nvSpPr>
        <p:spPr>
          <a:xfrm>
            <a:off x="597375" y="934500"/>
            <a:ext cx="8353200" cy="5788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Roboto"/>
                <a:ea typeface="Roboto"/>
                <a:cs typeface="Roboto"/>
                <a:sym typeface="Roboto"/>
              </a:rPr>
              <a:t>Phase I – Secure Intake &amp; Core Document Handling</a:t>
            </a:r>
            <a:endParaRPr b="1" sz="1700">
              <a:latin typeface="Roboto"/>
              <a:ea typeface="Roboto"/>
              <a:cs typeface="Roboto"/>
              <a:sym typeface="Roboto"/>
            </a:endParaRPr>
          </a:p>
          <a:p>
            <a:pPr indent="-336550" lvl="0" marL="457200" rtl="0" algn="l">
              <a:lnSpc>
                <a:spcPct val="115000"/>
              </a:lnSpc>
              <a:spcBef>
                <a:spcPts val="1200"/>
              </a:spcBef>
              <a:spcAft>
                <a:spcPts val="0"/>
              </a:spcAft>
              <a:buSzPts val="1700"/>
              <a:buFont typeface="Roboto"/>
              <a:buChar char="●"/>
            </a:pPr>
            <a:r>
              <a:rPr lang="en-US" sz="1700">
                <a:latin typeface="Roboto"/>
                <a:ea typeface="Roboto"/>
                <a:cs typeface="Roboto"/>
                <a:sym typeface="Roboto"/>
              </a:rPr>
              <a:t>Upload PDF document through the system interface</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Generate SHA-256 hash of the document to create a unique doc_id</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Store the file in a secure temporary directory configured for auto-deletion</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Perform Spatial Text Mapping using:</a:t>
            </a:r>
            <a:endParaRPr sz="1700">
              <a:latin typeface="Roboto"/>
              <a:ea typeface="Roboto"/>
              <a:cs typeface="Roboto"/>
              <a:sym typeface="Roboto"/>
            </a:endParaRPr>
          </a:p>
          <a:p>
            <a:pPr indent="-336550" lvl="1"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pdfplumber for native PDF text</a:t>
            </a:r>
            <a:endParaRPr sz="1700">
              <a:latin typeface="Roboto"/>
              <a:ea typeface="Roboto"/>
              <a:cs typeface="Roboto"/>
              <a:sym typeface="Roboto"/>
            </a:endParaRPr>
          </a:p>
          <a:p>
            <a:pPr indent="-336550" lvl="1"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Local OCR engine for scanned documents</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Roboto"/>
              <a:buChar char="●"/>
            </a:pPr>
            <a:r>
              <a:rPr lang="en-US" sz="1700">
                <a:latin typeface="Roboto"/>
                <a:ea typeface="Roboto"/>
                <a:cs typeface="Roboto"/>
                <a:sym typeface="Roboto"/>
              </a:rPr>
              <a:t>Generate searchable coordinate map:</a:t>
            </a:r>
            <a:endParaRPr sz="1700">
              <a:latin typeface="Roboto"/>
              <a:ea typeface="Roboto"/>
              <a:cs typeface="Roboto"/>
              <a:sym typeface="Roboto"/>
            </a:endParaRPr>
          </a:p>
          <a:p>
            <a:pPr indent="457200" lvl="0" marL="457200" rtl="0" algn="l">
              <a:lnSpc>
                <a:spcPct val="115000"/>
              </a:lnSpc>
              <a:spcBef>
                <a:spcPts val="1200"/>
              </a:spcBef>
              <a:spcAft>
                <a:spcPts val="0"/>
              </a:spcAft>
              <a:buSzPts val="1100"/>
              <a:buNone/>
            </a:pPr>
            <a:r>
              <a:rPr lang="en-US" sz="1700">
                <a:latin typeface="Roboto"/>
                <a:ea typeface="Roboto"/>
                <a:cs typeface="Roboto"/>
                <a:sym typeface="Roboto"/>
              </a:rPr>
              <a:t>{ "text": "word", "bbox": [coordinates], "page": n }</a:t>
            </a:r>
            <a:endParaRPr sz="1700">
              <a:latin typeface="Roboto"/>
              <a:ea typeface="Roboto"/>
              <a:cs typeface="Roboto"/>
              <a:sym typeface="Roboto"/>
            </a:endParaRPr>
          </a:p>
          <a:p>
            <a:pPr indent="0" lvl="0" marL="0" rtl="0" algn="l">
              <a:lnSpc>
                <a:spcPct val="115000"/>
              </a:lnSpc>
              <a:spcBef>
                <a:spcPts val="1800"/>
              </a:spcBef>
              <a:spcAft>
                <a:spcPts val="0"/>
              </a:spcAft>
              <a:buSzPts val="1100"/>
              <a:buNone/>
            </a:pPr>
            <a:r>
              <a:rPr b="1" lang="en-US" sz="1700">
                <a:latin typeface="Roboto"/>
                <a:ea typeface="Roboto"/>
                <a:cs typeface="Roboto"/>
                <a:sym typeface="Roboto"/>
              </a:rPr>
              <a:t>Phase II – Privacy-First AI Extraction &amp; Grounding</a:t>
            </a:r>
            <a:endParaRPr b="1" sz="1700">
              <a:latin typeface="Roboto"/>
              <a:ea typeface="Roboto"/>
              <a:cs typeface="Roboto"/>
              <a:sym typeface="Roboto"/>
            </a:endParaRPr>
          </a:p>
          <a:p>
            <a:pPr indent="-336550" lvl="0" marL="457200" rtl="0" algn="l">
              <a:lnSpc>
                <a:spcPct val="115000"/>
              </a:lnSpc>
              <a:spcBef>
                <a:spcPts val="1200"/>
              </a:spcBef>
              <a:spcAft>
                <a:spcPts val="0"/>
              </a:spcAft>
              <a:buSzPts val="1700"/>
              <a:buChar char="●"/>
            </a:pPr>
            <a:r>
              <a:rPr lang="en-US" sz="1700">
                <a:latin typeface="Roboto"/>
                <a:ea typeface="Roboto"/>
                <a:cs typeface="Roboto"/>
                <a:sym typeface="Roboto"/>
              </a:rPr>
              <a:t>Use </a:t>
            </a:r>
            <a:r>
              <a:rPr b="1" lang="en-US" sz="1700">
                <a:latin typeface="Roboto"/>
                <a:ea typeface="Roboto"/>
                <a:cs typeface="Roboto"/>
                <a:sym typeface="Roboto"/>
              </a:rPr>
              <a:t>local LLM agent</a:t>
            </a:r>
            <a:r>
              <a:rPr lang="en-US" sz="1700">
                <a:latin typeface="Roboto"/>
                <a:ea typeface="Roboto"/>
                <a:cs typeface="Roboto"/>
                <a:sym typeface="Roboto"/>
              </a:rPr>
              <a:t> to extract verifiable elements from the document</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Roboto"/>
              <a:buChar char="●"/>
            </a:pPr>
            <a:r>
              <a:rPr lang="en-US" sz="1700">
                <a:latin typeface="Roboto"/>
                <a:ea typeface="Roboto"/>
                <a:cs typeface="Roboto"/>
                <a:sym typeface="Roboto"/>
              </a:rPr>
              <a:t>Identify important fields such as names, registration numbers, and dates</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Map extracted data to a </a:t>
            </a:r>
            <a:r>
              <a:rPr b="1" lang="en-US" sz="1700">
                <a:latin typeface="Roboto"/>
                <a:ea typeface="Roboto"/>
                <a:cs typeface="Roboto"/>
                <a:sym typeface="Roboto"/>
              </a:rPr>
              <a:t>Canonical Metadata Schema</a:t>
            </a:r>
            <a:endParaRPr b="1"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Perform </a:t>
            </a:r>
            <a:r>
              <a:rPr b="1" lang="en-US" sz="1700">
                <a:latin typeface="Roboto"/>
                <a:ea typeface="Roboto"/>
                <a:cs typeface="Roboto"/>
                <a:sym typeface="Roboto"/>
              </a:rPr>
              <a:t>Spatial Grounding</a:t>
            </a:r>
            <a:r>
              <a:rPr lang="en-US" sz="1700">
                <a:latin typeface="Roboto"/>
                <a:ea typeface="Roboto"/>
                <a:cs typeface="Roboto"/>
                <a:sym typeface="Roboto"/>
              </a:rPr>
              <a:t> by matching extracted values with coordinates from Phase I</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Calculate </a:t>
            </a:r>
            <a:r>
              <a:rPr b="1" lang="en-US" sz="1700">
                <a:latin typeface="Roboto"/>
                <a:ea typeface="Roboto"/>
                <a:cs typeface="Roboto"/>
                <a:sym typeface="Roboto"/>
              </a:rPr>
              <a:t>Confidence Score</a:t>
            </a:r>
            <a:r>
              <a:rPr lang="en-US" sz="1700">
                <a:latin typeface="Roboto"/>
                <a:ea typeface="Roboto"/>
                <a:cs typeface="Roboto"/>
                <a:sym typeface="Roboto"/>
              </a:rPr>
              <a:t> using string match distance</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Roboto"/>
              <a:buChar char="●"/>
            </a:pPr>
            <a:r>
              <a:rPr lang="en-US" sz="1700">
                <a:latin typeface="Roboto"/>
                <a:ea typeface="Roboto"/>
                <a:cs typeface="Roboto"/>
                <a:sym typeface="Roboto"/>
              </a:rPr>
              <a:t>Drop values that fall below the confidence threshold to maintain data integrity</a:t>
            </a:r>
            <a:endParaRPr sz="1700">
              <a:latin typeface="Roboto"/>
              <a:ea typeface="Roboto"/>
              <a:cs typeface="Roboto"/>
              <a:sym typeface="Roboto"/>
            </a:endParaRPr>
          </a:p>
          <a:p>
            <a:pPr indent="0" lvl="0" marL="0" rtl="0" algn="l">
              <a:lnSpc>
                <a:spcPct val="115000"/>
              </a:lnSpc>
              <a:spcBef>
                <a:spcPts val="1200"/>
              </a:spcBef>
              <a:spcAft>
                <a:spcPts val="0"/>
              </a:spcAft>
              <a:buSzPts val="1100"/>
              <a:buNone/>
            </a:pPr>
            <a:r>
              <a:t/>
            </a:r>
            <a:endParaRPr sz="1700">
              <a:latin typeface="Roboto"/>
              <a:ea typeface="Roboto"/>
              <a:cs typeface="Roboto"/>
              <a:sym typeface="Roboto"/>
            </a:endParaRPr>
          </a:p>
          <a:p>
            <a:pPr indent="0" lvl="0" marL="0" rtl="0" algn="just">
              <a:spcBef>
                <a:spcPts val="1200"/>
              </a:spcBef>
              <a:spcAft>
                <a:spcPts val="0"/>
              </a:spcAft>
              <a:buClr>
                <a:schemeClr val="dk1"/>
              </a:buClr>
              <a:buSzPts val="2000"/>
              <a:buFont typeface="Arial"/>
              <a:buNone/>
            </a:pPr>
            <a:r>
              <a:t/>
            </a:r>
            <a:endParaRPr sz="1700">
              <a:latin typeface="Roboto"/>
              <a:ea typeface="Roboto"/>
              <a:cs typeface="Roboto"/>
              <a:sym typeface="Roboto"/>
            </a:endParaRPr>
          </a:p>
          <a:p>
            <a:pPr indent="0" lvl="0" marL="0" rtl="0" algn="l">
              <a:lnSpc>
                <a:spcPct val="115000"/>
              </a:lnSpc>
              <a:spcBef>
                <a:spcPts val="0"/>
              </a:spcBef>
              <a:spcAft>
                <a:spcPts val="0"/>
              </a:spcAft>
              <a:buSzPts val="1100"/>
              <a:buNone/>
            </a:pPr>
            <a:r>
              <a:t/>
            </a:r>
            <a:endParaRPr sz="1700">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700">
              <a:latin typeface="Roboto"/>
              <a:ea typeface="Roboto"/>
              <a:cs typeface="Roboto"/>
              <a:sym typeface="Roboto"/>
            </a:endParaRPr>
          </a:p>
          <a:p>
            <a:pPr indent="0" lvl="0" marL="0" rtl="0" algn="just">
              <a:lnSpc>
                <a:spcPct val="150000"/>
              </a:lnSpc>
              <a:spcBef>
                <a:spcPts val="1200"/>
              </a:spcBef>
              <a:spcAft>
                <a:spcPts val="0"/>
              </a:spcAft>
              <a:buSzPts val="2000"/>
              <a:buNone/>
            </a:pPr>
            <a:r>
              <a:t/>
            </a:r>
            <a:endParaRPr sz="1700">
              <a:latin typeface="Roboto"/>
              <a:ea typeface="Roboto"/>
              <a:cs typeface="Roboto"/>
              <a:sym typeface="Roboto"/>
            </a:endParaRPr>
          </a:p>
        </p:txBody>
      </p:sp>
      <p:sp>
        <p:nvSpPr>
          <p:cNvPr id="192" name="Google Shape;192;p25"/>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Proposed Methodology</a:t>
            </a:r>
            <a:endParaRPr/>
          </a:p>
        </p:txBody>
      </p:sp>
      <p:sp>
        <p:nvSpPr>
          <p:cNvPr id="199" name="Google Shape;199;p26"/>
          <p:cNvSpPr txBox="1"/>
          <p:nvPr>
            <p:ph idx="1" type="body"/>
          </p:nvPr>
        </p:nvSpPr>
        <p:spPr>
          <a:xfrm>
            <a:off x="597375" y="934500"/>
            <a:ext cx="8353200" cy="4849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Roboto"/>
                <a:ea typeface="Roboto"/>
                <a:cs typeface="Roboto"/>
                <a:sym typeface="Roboto"/>
              </a:rPr>
              <a:t>Phase III – Modular Validation Connector Framework</a:t>
            </a:r>
            <a:endParaRPr b="1" sz="1700">
              <a:latin typeface="Roboto"/>
              <a:ea typeface="Roboto"/>
              <a:cs typeface="Roboto"/>
              <a:sym typeface="Roboto"/>
            </a:endParaRPr>
          </a:p>
          <a:p>
            <a:pPr indent="-336550" lvl="0" marL="457200" rtl="0" algn="l">
              <a:lnSpc>
                <a:spcPct val="115000"/>
              </a:lnSpc>
              <a:spcBef>
                <a:spcPts val="1200"/>
              </a:spcBef>
              <a:spcAft>
                <a:spcPts val="0"/>
              </a:spcAft>
              <a:buSzPts val="1700"/>
              <a:buChar char="●"/>
            </a:pPr>
            <a:r>
              <a:rPr lang="en-US" sz="1700">
                <a:latin typeface="Roboto"/>
                <a:ea typeface="Roboto"/>
                <a:cs typeface="Roboto"/>
                <a:sym typeface="Roboto"/>
              </a:rPr>
              <a:t>Use a Pluggable Connector Framework to verify extracted data against trusted sources</a:t>
            </a:r>
            <a:endParaRPr sz="1700">
              <a:latin typeface="Roboto"/>
              <a:ea typeface="Roboto"/>
              <a:cs typeface="Roboto"/>
              <a:sym typeface="Roboto"/>
            </a:endParaRPr>
          </a:p>
          <a:p>
            <a:pPr indent="0" lvl="0" marL="457200" rtl="0" algn="l">
              <a:lnSpc>
                <a:spcPct val="115000"/>
              </a:lnSpc>
              <a:spcBef>
                <a:spcPts val="1400"/>
              </a:spcBef>
              <a:spcAft>
                <a:spcPts val="0"/>
              </a:spcAft>
              <a:buClr>
                <a:schemeClr val="dk1"/>
              </a:buClr>
              <a:buSzPts val="1100"/>
              <a:buFont typeface="Arial"/>
              <a:buNone/>
            </a:pPr>
            <a:r>
              <a:rPr b="1" lang="en-US" sz="1700">
                <a:latin typeface="Roboto"/>
                <a:ea typeface="Roboto"/>
                <a:cs typeface="Roboto"/>
                <a:sym typeface="Roboto"/>
              </a:rPr>
              <a:t>Path A – Centralized Registry Validation</a:t>
            </a:r>
            <a:endParaRPr b="1" sz="1700">
              <a:latin typeface="Roboto"/>
              <a:ea typeface="Roboto"/>
              <a:cs typeface="Roboto"/>
              <a:sym typeface="Roboto"/>
            </a:endParaRPr>
          </a:p>
          <a:p>
            <a:pPr indent="-336550" lvl="0" marL="914400" rtl="0" algn="l">
              <a:lnSpc>
                <a:spcPct val="115000"/>
              </a:lnSpc>
              <a:spcBef>
                <a:spcPts val="1200"/>
              </a:spcBef>
              <a:spcAft>
                <a:spcPts val="0"/>
              </a:spcAft>
              <a:buSzPts val="1700"/>
              <a:buChar char="●"/>
            </a:pPr>
            <a:r>
              <a:rPr lang="en-US" sz="1700">
                <a:latin typeface="Roboto"/>
                <a:ea typeface="Roboto"/>
                <a:cs typeface="Roboto"/>
                <a:sym typeface="Roboto"/>
              </a:rPr>
              <a:t>Send REST API request to institutional registry</a:t>
            </a:r>
            <a:endParaRPr sz="1700">
              <a:latin typeface="Roboto"/>
              <a:ea typeface="Roboto"/>
              <a:cs typeface="Roboto"/>
              <a:sym typeface="Roboto"/>
            </a:endParaRPr>
          </a:p>
          <a:p>
            <a:pPr indent="-336550" lvl="0"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Compare extracted fields with official records</a:t>
            </a:r>
            <a:endParaRPr sz="1700">
              <a:latin typeface="Roboto"/>
              <a:ea typeface="Roboto"/>
              <a:cs typeface="Roboto"/>
              <a:sym typeface="Roboto"/>
            </a:endParaRPr>
          </a:p>
          <a:p>
            <a:pPr indent="-336550" lvl="0"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Return:</a:t>
            </a:r>
            <a:endParaRPr sz="1700">
              <a:latin typeface="Roboto"/>
              <a:ea typeface="Roboto"/>
              <a:cs typeface="Roboto"/>
              <a:sym typeface="Roboto"/>
            </a:endParaRPr>
          </a:p>
          <a:p>
            <a:pPr indent="-336550" lvl="1" marL="1371600" rtl="0" algn="l">
              <a:lnSpc>
                <a:spcPct val="115000"/>
              </a:lnSpc>
              <a:spcBef>
                <a:spcPts val="0"/>
              </a:spcBef>
              <a:spcAft>
                <a:spcPts val="0"/>
              </a:spcAft>
              <a:buSzPts val="1700"/>
              <a:buFont typeface="Roboto"/>
              <a:buChar char="○"/>
            </a:pPr>
            <a:r>
              <a:rPr lang="en-US" sz="1700">
                <a:latin typeface="Roboto"/>
                <a:ea typeface="Roboto"/>
                <a:cs typeface="Roboto"/>
                <a:sym typeface="Roboto"/>
              </a:rPr>
              <a:t>Boolean results (Match / No Match)</a:t>
            </a:r>
            <a:endParaRPr sz="1700">
              <a:latin typeface="Roboto"/>
              <a:ea typeface="Roboto"/>
              <a:cs typeface="Roboto"/>
              <a:sym typeface="Roboto"/>
            </a:endParaRPr>
          </a:p>
          <a:p>
            <a:pPr indent="-336550" lvl="1" marL="1371600" rtl="0" algn="l">
              <a:lnSpc>
                <a:spcPct val="115000"/>
              </a:lnSpc>
              <a:spcBef>
                <a:spcPts val="0"/>
              </a:spcBef>
              <a:spcAft>
                <a:spcPts val="0"/>
              </a:spcAft>
              <a:buSzPts val="1700"/>
              <a:buFont typeface="Roboto"/>
              <a:buChar char="○"/>
            </a:pPr>
            <a:r>
              <a:rPr lang="en-US" sz="1700">
                <a:latin typeface="Roboto"/>
                <a:ea typeface="Roboto"/>
                <a:cs typeface="Roboto"/>
                <a:sym typeface="Roboto"/>
              </a:rPr>
              <a:t>Reason codes (e.g., DOB mismatch)</a:t>
            </a:r>
            <a:endParaRPr sz="1700">
              <a:latin typeface="Roboto"/>
              <a:ea typeface="Roboto"/>
              <a:cs typeface="Roboto"/>
              <a:sym typeface="Roboto"/>
            </a:endParaRPr>
          </a:p>
          <a:p>
            <a:pPr indent="0" lvl="0" marL="457200" rtl="0" algn="l">
              <a:lnSpc>
                <a:spcPct val="115000"/>
              </a:lnSpc>
              <a:spcBef>
                <a:spcPts val="1400"/>
              </a:spcBef>
              <a:spcAft>
                <a:spcPts val="0"/>
              </a:spcAft>
              <a:buClr>
                <a:schemeClr val="dk1"/>
              </a:buClr>
              <a:buSzPts val="1100"/>
              <a:buFont typeface="Arial"/>
              <a:buNone/>
            </a:pPr>
            <a:r>
              <a:rPr b="1" lang="en-US" sz="1700">
                <a:latin typeface="Roboto"/>
                <a:ea typeface="Roboto"/>
                <a:cs typeface="Roboto"/>
                <a:sym typeface="Roboto"/>
              </a:rPr>
              <a:t>Path B – Decentralized Identity Validation</a:t>
            </a:r>
            <a:endParaRPr b="1" sz="1700">
              <a:latin typeface="Roboto"/>
              <a:ea typeface="Roboto"/>
              <a:cs typeface="Roboto"/>
              <a:sym typeface="Roboto"/>
            </a:endParaRPr>
          </a:p>
          <a:p>
            <a:pPr indent="-336550" lvl="0" marL="914400" rtl="0" algn="l">
              <a:lnSpc>
                <a:spcPct val="115000"/>
              </a:lnSpc>
              <a:spcBef>
                <a:spcPts val="1200"/>
              </a:spcBef>
              <a:spcAft>
                <a:spcPts val="0"/>
              </a:spcAft>
              <a:buSzPts val="1700"/>
              <a:buChar char="●"/>
            </a:pPr>
            <a:r>
              <a:rPr lang="en-US" sz="1700">
                <a:latin typeface="Roboto"/>
                <a:ea typeface="Roboto"/>
                <a:cs typeface="Roboto"/>
                <a:sym typeface="Roboto"/>
              </a:rPr>
              <a:t>Initiate Verifiable Presentation Request</a:t>
            </a:r>
            <a:endParaRPr sz="1700">
              <a:latin typeface="Roboto"/>
              <a:ea typeface="Roboto"/>
              <a:cs typeface="Roboto"/>
              <a:sym typeface="Roboto"/>
            </a:endParaRPr>
          </a:p>
          <a:p>
            <a:pPr indent="-336550" lvl="0" marL="914400" rtl="0" algn="l">
              <a:lnSpc>
                <a:spcPct val="115000"/>
              </a:lnSpc>
              <a:spcBef>
                <a:spcPts val="0"/>
              </a:spcBef>
              <a:spcAft>
                <a:spcPts val="0"/>
              </a:spcAft>
              <a:buSzPts val="1700"/>
              <a:buChar char="●"/>
            </a:pPr>
            <a:r>
              <a:rPr lang="en-US" sz="1700">
                <a:latin typeface="Roboto"/>
                <a:ea typeface="Roboto"/>
                <a:cs typeface="Roboto"/>
                <a:sym typeface="Roboto"/>
              </a:rPr>
              <a:t>Verify credentials using Microsoft Entra Verified ID</a:t>
            </a:r>
            <a:endParaRPr sz="1700">
              <a:latin typeface="Roboto"/>
              <a:ea typeface="Roboto"/>
              <a:cs typeface="Roboto"/>
              <a:sym typeface="Roboto"/>
            </a:endParaRPr>
          </a:p>
          <a:p>
            <a:pPr indent="-336550" lvl="0"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Cryptographically validate the student’s digital wallet credentials</a:t>
            </a:r>
            <a:endParaRPr sz="1700">
              <a:latin typeface="Roboto"/>
              <a:ea typeface="Roboto"/>
              <a:cs typeface="Roboto"/>
              <a:sym typeface="Roboto"/>
            </a:endParaRPr>
          </a:p>
        </p:txBody>
      </p:sp>
      <p:sp>
        <p:nvSpPr>
          <p:cNvPr id="200" name="Google Shape;200;p26"/>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Proposed Methodology</a:t>
            </a:r>
            <a:endParaRPr/>
          </a:p>
        </p:txBody>
      </p:sp>
      <p:sp>
        <p:nvSpPr>
          <p:cNvPr id="207" name="Google Shape;207;p27"/>
          <p:cNvSpPr txBox="1"/>
          <p:nvPr>
            <p:ph idx="1" type="body"/>
          </p:nvPr>
        </p:nvSpPr>
        <p:spPr>
          <a:xfrm>
            <a:off x="597375" y="934500"/>
            <a:ext cx="8353200" cy="3001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None/>
            </a:pPr>
            <a:r>
              <a:rPr b="1" lang="en-US" sz="1700">
                <a:latin typeface="Roboto"/>
                <a:ea typeface="Roboto"/>
                <a:cs typeface="Roboto"/>
                <a:sym typeface="Roboto"/>
              </a:rPr>
              <a:t>Phase IV – Security, Proof &amp; Completion</a:t>
            </a:r>
            <a:endParaRPr b="1" sz="1700">
              <a:latin typeface="Roboto"/>
              <a:ea typeface="Roboto"/>
              <a:cs typeface="Roboto"/>
              <a:sym typeface="Roboto"/>
            </a:endParaRPr>
          </a:p>
          <a:p>
            <a:pPr indent="-336550" lvl="0" marL="457200" rtl="0" algn="l">
              <a:lnSpc>
                <a:spcPct val="115000"/>
              </a:lnSpc>
              <a:spcBef>
                <a:spcPts val="1200"/>
              </a:spcBef>
              <a:spcAft>
                <a:spcPts val="0"/>
              </a:spcAft>
              <a:buSzPts val="1700"/>
              <a:buChar char="●"/>
            </a:pPr>
            <a:r>
              <a:rPr lang="en-US" sz="1700">
                <a:latin typeface="Roboto"/>
                <a:ea typeface="Roboto"/>
                <a:cs typeface="Roboto"/>
                <a:sym typeface="Roboto"/>
              </a:rPr>
              <a:t>Package verification results into an </a:t>
            </a:r>
            <a:r>
              <a:rPr b="1" lang="en-US" sz="1700">
                <a:latin typeface="Roboto"/>
                <a:ea typeface="Roboto"/>
                <a:cs typeface="Roboto"/>
                <a:sym typeface="Roboto"/>
              </a:rPr>
              <a:t>audit trail</a:t>
            </a:r>
            <a:r>
              <a:rPr lang="en-US" sz="1700">
                <a:latin typeface="Roboto"/>
                <a:ea typeface="Roboto"/>
                <a:cs typeface="Roboto"/>
                <a:sym typeface="Roboto"/>
              </a:rPr>
              <a:t> containing:</a:t>
            </a:r>
            <a:endParaRPr sz="1700">
              <a:latin typeface="Roboto"/>
              <a:ea typeface="Roboto"/>
              <a:cs typeface="Roboto"/>
              <a:sym typeface="Roboto"/>
            </a:endParaRPr>
          </a:p>
          <a:p>
            <a:pPr indent="-336550" lvl="1" marL="914400" rtl="0" algn="l">
              <a:lnSpc>
                <a:spcPct val="115000"/>
              </a:lnSpc>
              <a:spcBef>
                <a:spcPts val="0"/>
              </a:spcBef>
              <a:spcAft>
                <a:spcPts val="0"/>
              </a:spcAft>
              <a:buSzPts val="1700"/>
              <a:buChar char="○"/>
            </a:pPr>
            <a:r>
              <a:rPr lang="en-US" sz="1700">
                <a:solidFill>
                  <a:srgbClr val="188038"/>
                </a:solidFill>
                <a:latin typeface="Roboto"/>
                <a:ea typeface="Roboto"/>
                <a:cs typeface="Roboto"/>
                <a:sym typeface="Roboto"/>
              </a:rPr>
              <a:t>doc_id</a:t>
            </a:r>
            <a:r>
              <a:rPr lang="en-US" sz="1700">
                <a:latin typeface="Roboto"/>
                <a:ea typeface="Roboto"/>
                <a:cs typeface="Roboto"/>
                <a:sym typeface="Roboto"/>
              </a:rPr>
              <a:t> hash</a:t>
            </a:r>
            <a:endParaRPr sz="1700">
              <a:latin typeface="Roboto"/>
              <a:ea typeface="Roboto"/>
              <a:cs typeface="Roboto"/>
              <a:sym typeface="Roboto"/>
            </a:endParaRPr>
          </a:p>
          <a:p>
            <a:pPr indent="-336550" lvl="1"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Extracted JSON data</a:t>
            </a:r>
            <a:endParaRPr sz="1700">
              <a:latin typeface="Roboto"/>
              <a:ea typeface="Roboto"/>
              <a:cs typeface="Roboto"/>
              <a:sym typeface="Roboto"/>
            </a:endParaRPr>
          </a:p>
          <a:p>
            <a:pPr indent="-336550" lvl="1" marL="914400" rtl="0" algn="l">
              <a:lnSpc>
                <a:spcPct val="115000"/>
              </a:lnSpc>
              <a:spcBef>
                <a:spcPts val="0"/>
              </a:spcBef>
              <a:spcAft>
                <a:spcPts val="0"/>
              </a:spcAft>
              <a:buSzPts val="1700"/>
              <a:buFont typeface="Roboto"/>
              <a:buChar char="○"/>
            </a:pPr>
            <a:r>
              <a:rPr lang="en-US" sz="1700">
                <a:latin typeface="Roboto"/>
                <a:ea typeface="Roboto"/>
                <a:cs typeface="Roboto"/>
                <a:sym typeface="Roboto"/>
              </a:rPr>
              <a:t>Validation results</a:t>
            </a:r>
            <a:endParaRPr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Sign the audit payload using a </a:t>
            </a:r>
            <a:r>
              <a:rPr b="1" lang="en-US" sz="1700">
                <a:latin typeface="Roboto"/>
                <a:ea typeface="Roboto"/>
                <a:cs typeface="Roboto"/>
                <a:sym typeface="Roboto"/>
              </a:rPr>
              <a:t>private RSA key</a:t>
            </a:r>
            <a:endParaRPr b="1"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Create </a:t>
            </a:r>
            <a:r>
              <a:rPr b="1" lang="en-US" sz="1700">
                <a:latin typeface="Roboto"/>
                <a:ea typeface="Roboto"/>
                <a:cs typeface="Roboto"/>
                <a:sym typeface="Roboto"/>
              </a:rPr>
              <a:t>cryptographic proof of the verification process</a:t>
            </a:r>
            <a:endParaRPr b="1"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Perform mandatory cleanup by </a:t>
            </a:r>
            <a:r>
              <a:rPr b="1" lang="en-US" sz="1700">
                <a:latin typeface="Roboto"/>
                <a:ea typeface="Roboto"/>
                <a:cs typeface="Roboto"/>
                <a:sym typeface="Roboto"/>
              </a:rPr>
              <a:t>securely deleting all temporary files</a:t>
            </a:r>
            <a:endParaRPr b="1" sz="1700">
              <a:latin typeface="Roboto"/>
              <a:ea typeface="Roboto"/>
              <a:cs typeface="Roboto"/>
              <a:sym typeface="Roboto"/>
            </a:endParaRPr>
          </a:p>
          <a:p>
            <a:pPr indent="-336550" lvl="0" marL="457200" rtl="0" algn="l">
              <a:lnSpc>
                <a:spcPct val="115000"/>
              </a:lnSpc>
              <a:spcBef>
                <a:spcPts val="0"/>
              </a:spcBef>
              <a:spcAft>
                <a:spcPts val="0"/>
              </a:spcAft>
              <a:buSzPts val="1700"/>
              <a:buChar char="●"/>
            </a:pPr>
            <a:r>
              <a:rPr lang="en-US" sz="1700">
                <a:latin typeface="Roboto"/>
                <a:ea typeface="Roboto"/>
                <a:cs typeface="Roboto"/>
                <a:sym typeface="Roboto"/>
              </a:rPr>
              <a:t>Ensure no </a:t>
            </a:r>
            <a:r>
              <a:rPr b="1" lang="en-US" sz="1700">
                <a:latin typeface="Roboto"/>
                <a:ea typeface="Roboto"/>
                <a:cs typeface="Roboto"/>
                <a:sym typeface="Roboto"/>
              </a:rPr>
              <a:t>Personally Identifiable Information (PII)</a:t>
            </a:r>
            <a:r>
              <a:rPr lang="en-US" sz="1700">
                <a:latin typeface="Roboto"/>
                <a:ea typeface="Roboto"/>
                <a:cs typeface="Roboto"/>
                <a:sym typeface="Roboto"/>
              </a:rPr>
              <a:t> remains in the system</a:t>
            </a:r>
            <a:endParaRPr b="1" sz="1700">
              <a:latin typeface="Roboto"/>
              <a:ea typeface="Roboto"/>
              <a:cs typeface="Roboto"/>
              <a:sym typeface="Roboto"/>
            </a:endParaRPr>
          </a:p>
        </p:txBody>
      </p:sp>
      <p:sp>
        <p:nvSpPr>
          <p:cNvPr id="208" name="Google Shape;208;p27"/>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1336301" y="0"/>
            <a:ext cx="6716700" cy="63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100000"/>
              <a:buNone/>
            </a:pPr>
            <a:r>
              <a:rPr lang="en-US"/>
              <a:t>System Workflow/ Verification Pipeline</a:t>
            </a:r>
            <a:endParaRPr/>
          </a:p>
        </p:txBody>
      </p:sp>
      <p:sp>
        <p:nvSpPr>
          <p:cNvPr id="215" name="Google Shape;215;p28"/>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pic>
        <p:nvPicPr>
          <p:cNvPr id="216" name="Google Shape;216;p28"/>
          <p:cNvPicPr preferRelativeResize="0"/>
          <p:nvPr/>
        </p:nvPicPr>
        <p:blipFill>
          <a:blip r:embed="rId3">
            <a:alphaModFix/>
          </a:blip>
          <a:stretch>
            <a:fillRect/>
          </a:stretch>
        </p:blipFill>
        <p:spPr>
          <a:xfrm>
            <a:off x="523250" y="1027695"/>
            <a:ext cx="8560500" cy="4662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9"/>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Tools And Technologies Used</a:t>
            </a:r>
            <a:endParaRPr/>
          </a:p>
        </p:txBody>
      </p:sp>
      <p:sp>
        <p:nvSpPr>
          <p:cNvPr id="223" name="Google Shape;223;p29"/>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pic>
        <p:nvPicPr>
          <p:cNvPr id="224" name="Google Shape;224;p29"/>
          <p:cNvPicPr preferRelativeResize="0"/>
          <p:nvPr/>
        </p:nvPicPr>
        <p:blipFill>
          <a:blip r:embed="rId3">
            <a:alphaModFix/>
          </a:blip>
          <a:stretch>
            <a:fillRect/>
          </a:stretch>
        </p:blipFill>
        <p:spPr>
          <a:xfrm>
            <a:off x="496850" y="792302"/>
            <a:ext cx="8390580" cy="55937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Tools And Technologies Used</a:t>
            </a:r>
            <a:endParaRPr/>
          </a:p>
        </p:txBody>
      </p:sp>
      <p:sp>
        <p:nvSpPr>
          <p:cNvPr id="231" name="Google Shape;231;p30"/>
          <p:cNvSpPr txBox="1"/>
          <p:nvPr>
            <p:ph idx="1" type="body"/>
          </p:nvPr>
        </p:nvSpPr>
        <p:spPr>
          <a:xfrm>
            <a:off x="630775" y="804972"/>
            <a:ext cx="8353200" cy="5871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650">
                <a:latin typeface="Roboto"/>
                <a:ea typeface="Roboto"/>
                <a:cs typeface="Roboto"/>
                <a:sym typeface="Roboto"/>
              </a:rPr>
              <a:t>Backend Infrastructure</a:t>
            </a:r>
            <a:endParaRPr b="1" sz="1650">
              <a:latin typeface="Roboto"/>
              <a:ea typeface="Roboto"/>
              <a:cs typeface="Roboto"/>
              <a:sym typeface="Roboto"/>
            </a:endParaRPr>
          </a:p>
          <a:p>
            <a:pPr indent="-333375" lvl="0" marL="457200" rtl="0" algn="l">
              <a:lnSpc>
                <a:spcPct val="115000"/>
              </a:lnSpc>
              <a:spcBef>
                <a:spcPts val="1400"/>
              </a:spcBef>
              <a:spcAft>
                <a:spcPts val="0"/>
              </a:spcAft>
              <a:buSzPts val="1650"/>
              <a:buFont typeface="Arial"/>
              <a:buChar char="•"/>
            </a:pPr>
            <a:r>
              <a:rPr b="1" lang="en-US" sz="1650">
                <a:latin typeface="Roboto"/>
                <a:ea typeface="Roboto"/>
                <a:cs typeface="Roboto"/>
                <a:sym typeface="Roboto"/>
              </a:rPr>
              <a:t>FastAPI:</a:t>
            </a:r>
            <a:r>
              <a:rPr lang="en-US" sz="1650">
                <a:latin typeface="Roboto"/>
                <a:ea typeface="Roboto"/>
                <a:cs typeface="Roboto"/>
                <a:sym typeface="Roboto"/>
              </a:rPr>
              <a:t> A high-performance Python framework used to build the backend API that manages document processing, extraction workflows, and validation logic.</a:t>
            </a:r>
            <a:endParaRPr sz="1650">
              <a:latin typeface="Roboto"/>
              <a:ea typeface="Roboto"/>
              <a:cs typeface="Roboto"/>
              <a:sym typeface="Roboto"/>
            </a:endParaRPr>
          </a:p>
          <a:p>
            <a:pPr indent="-333375" lvl="0" marL="457200" rtl="0" algn="l">
              <a:lnSpc>
                <a:spcPct val="115000"/>
              </a:lnSpc>
              <a:spcBef>
                <a:spcPts val="0"/>
              </a:spcBef>
              <a:spcAft>
                <a:spcPts val="0"/>
              </a:spcAft>
              <a:buSzPts val="1650"/>
              <a:buFont typeface="Arial"/>
              <a:buChar char="•"/>
            </a:pPr>
            <a:r>
              <a:rPr b="1" lang="en-US" sz="1650">
                <a:latin typeface="Roboto"/>
                <a:ea typeface="Roboto"/>
                <a:cs typeface="Roboto"/>
                <a:sym typeface="Roboto"/>
              </a:rPr>
              <a:t>Uvicorn / Gunicorn:</a:t>
            </a:r>
            <a:r>
              <a:rPr lang="en-US" sz="1650">
                <a:latin typeface="Roboto"/>
                <a:ea typeface="Roboto"/>
                <a:cs typeface="Roboto"/>
                <a:sym typeface="Roboto"/>
              </a:rPr>
              <a:t> ASGI servers used to run and manage the FastAPI backend services efficiently.</a:t>
            </a:r>
            <a:endParaRPr sz="1650">
              <a:latin typeface="Roboto"/>
              <a:ea typeface="Roboto"/>
              <a:cs typeface="Roboto"/>
              <a:sym typeface="Roboto"/>
            </a:endParaRPr>
          </a:p>
          <a:p>
            <a:pPr indent="-333375" lvl="0" marL="457200" rtl="0" algn="l">
              <a:lnSpc>
                <a:spcPct val="115000"/>
              </a:lnSpc>
              <a:spcBef>
                <a:spcPts val="0"/>
              </a:spcBef>
              <a:spcAft>
                <a:spcPts val="0"/>
              </a:spcAft>
              <a:buSzPts val="1650"/>
              <a:buFont typeface="Arial"/>
              <a:buChar char="•"/>
            </a:pPr>
            <a:r>
              <a:rPr b="1" lang="en-US" sz="1650">
                <a:latin typeface="Roboto"/>
                <a:ea typeface="Roboto"/>
                <a:cs typeface="Roboto"/>
                <a:sym typeface="Roboto"/>
              </a:rPr>
              <a:t>Docker:</a:t>
            </a:r>
            <a:r>
              <a:rPr lang="en-US" sz="1650">
                <a:latin typeface="Roboto"/>
                <a:ea typeface="Roboto"/>
                <a:cs typeface="Roboto"/>
                <a:sym typeface="Roboto"/>
              </a:rPr>
              <a:t> Containerization platform used to deploy and manage application services in isolated environments.</a:t>
            </a:r>
            <a:endParaRPr sz="1650">
              <a:latin typeface="Roboto"/>
              <a:ea typeface="Roboto"/>
              <a:cs typeface="Roboto"/>
              <a:sym typeface="Roboto"/>
            </a:endParaRPr>
          </a:p>
          <a:p>
            <a:pPr indent="-333375" lvl="0" marL="457200" rtl="0" algn="l">
              <a:lnSpc>
                <a:spcPct val="115000"/>
              </a:lnSpc>
              <a:spcBef>
                <a:spcPts val="0"/>
              </a:spcBef>
              <a:spcAft>
                <a:spcPts val="0"/>
              </a:spcAft>
              <a:buSzPts val="1650"/>
              <a:buFont typeface="Arial"/>
              <a:buChar char="•"/>
            </a:pPr>
            <a:r>
              <a:rPr b="1" lang="en-US" sz="1650">
                <a:latin typeface="Roboto"/>
                <a:ea typeface="Roboto"/>
                <a:cs typeface="Roboto"/>
                <a:sym typeface="Roboto"/>
              </a:rPr>
              <a:t>SHA-256 Hashing:</a:t>
            </a:r>
            <a:r>
              <a:rPr lang="en-US" sz="1650">
                <a:latin typeface="Roboto"/>
                <a:ea typeface="Roboto"/>
                <a:cs typeface="Roboto"/>
                <a:sym typeface="Roboto"/>
              </a:rPr>
              <a:t> Cryptographic hashing algorithm used to generate unique document fingerprints for secure document identification.</a:t>
            </a:r>
            <a:endParaRPr sz="1650">
              <a:latin typeface="Roboto"/>
              <a:ea typeface="Roboto"/>
              <a:cs typeface="Roboto"/>
              <a:sym typeface="Roboto"/>
            </a:endParaRPr>
          </a:p>
          <a:p>
            <a:pPr indent="0" lvl="0" marL="0" rtl="0" algn="l">
              <a:lnSpc>
                <a:spcPct val="115000"/>
              </a:lnSpc>
              <a:spcBef>
                <a:spcPts val="1400"/>
              </a:spcBef>
              <a:spcAft>
                <a:spcPts val="0"/>
              </a:spcAft>
              <a:buSzPts val="2000"/>
              <a:buNone/>
            </a:pPr>
            <a:r>
              <a:rPr b="1" lang="en-US" sz="1650">
                <a:latin typeface="Roboto"/>
                <a:ea typeface="Roboto"/>
                <a:cs typeface="Roboto"/>
                <a:sym typeface="Roboto"/>
              </a:rPr>
              <a:t>AI &amp; Workflow Automation</a:t>
            </a:r>
            <a:endParaRPr b="1" sz="1650">
              <a:latin typeface="Roboto"/>
              <a:ea typeface="Roboto"/>
              <a:cs typeface="Roboto"/>
              <a:sym typeface="Roboto"/>
            </a:endParaRPr>
          </a:p>
          <a:p>
            <a:pPr indent="-333375" lvl="0" marL="457200" rtl="0" algn="l">
              <a:lnSpc>
                <a:spcPct val="115000"/>
              </a:lnSpc>
              <a:spcBef>
                <a:spcPts val="1200"/>
              </a:spcBef>
              <a:spcAft>
                <a:spcPts val="0"/>
              </a:spcAft>
              <a:buSzPts val="1650"/>
              <a:buFont typeface="Arial"/>
              <a:buChar char="•"/>
            </a:pPr>
            <a:r>
              <a:rPr b="1" lang="en-US" sz="1650">
                <a:latin typeface="Roboto"/>
                <a:ea typeface="Roboto"/>
                <a:cs typeface="Roboto"/>
                <a:sym typeface="Roboto"/>
              </a:rPr>
              <a:t>Large Language Models (LLMs):</a:t>
            </a:r>
            <a:r>
              <a:rPr lang="en-US" sz="1650">
                <a:latin typeface="Roboto"/>
                <a:ea typeface="Roboto"/>
                <a:cs typeface="Roboto"/>
                <a:sym typeface="Roboto"/>
              </a:rPr>
              <a:t> Used for extracting structured information from unstructured PDF documents and mapping it to a canonical metadata schema.</a:t>
            </a:r>
            <a:endParaRPr sz="1650">
              <a:latin typeface="Roboto"/>
              <a:ea typeface="Roboto"/>
              <a:cs typeface="Roboto"/>
              <a:sym typeface="Roboto"/>
            </a:endParaRPr>
          </a:p>
          <a:p>
            <a:pPr indent="-333375" lvl="0" marL="457200" rtl="0" algn="l">
              <a:lnSpc>
                <a:spcPct val="115000"/>
              </a:lnSpc>
              <a:spcBef>
                <a:spcPts val="0"/>
              </a:spcBef>
              <a:spcAft>
                <a:spcPts val="0"/>
              </a:spcAft>
              <a:buSzPts val="1650"/>
              <a:buFont typeface="Arial"/>
              <a:buChar char="•"/>
            </a:pPr>
            <a:r>
              <a:rPr b="1" lang="en-US" sz="1650">
                <a:latin typeface="Roboto"/>
                <a:ea typeface="Roboto"/>
                <a:cs typeface="Roboto"/>
                <a:sym typeface="Roboto"/>
              </a:rPr>
              <a:t>pdfplumber:</a:t>
            </a:r>
            <a:r>
              <a:rPr lang="en-US" sz="1650">
                <a:latin typeface="Roboto"/>
                <a:ea typeface="Roboto"/>
                <a:cs typeface="Roboto"/>
                <a:sym typeface="Roboto"/>
              </a:rPr>
              <a:t> A Python library used for extracting textual content and layout information from PDF documents.</a:t>
            </a:r>
            <a:endParaRPr sz="1650">
              <a:latin typeface="Roboto"/>
              <a:ea typeface="Roboto"/>
              <a:cs typeface="Roboto"/>
              <a:sym typeface="Roboto"/>
            </a:endParaRPr>
          </a:p>
          <a:p>
            <a:pPr indent="-333375" lvl="0" marL="457200" rtl="0" algn="l">
              <a:lnSpc>
                <a:spcPct val="115000"/>
              </a:lnSpc>
              <a:spcBef>
                <a:spcPts val="0"/>
              </a:spcBef>
              <a:spcAft>
                <a:spcPts val="0"/>
              </a:spcAft>
              <a:buSzPts val="1650"/>
              <a:buFont typeface="Arial"/>
              <a:buChar char="•"/>
            </a:pPr>
            <a:r>
              <a:rPr b="1" lang="en-US" sz="1650">
                <a:latin typeface="Roboto"/>
                <a:ea typeface="Roboto"/>
                <a:cs typeface="Roboto"/>
                <a:sym typeface="Roboto"/>
              </a:rPr>
              <a:t>PaddleOCR:</a:t>
            </a:r>
            <a:r>
              <a:rPr lang="en-US" sz="1650">
                <a:latin typeface="Roboto"/>
                <a:ea typeface="Roboto"/>
                <a:cs typeface="Roboto"/>
                <a:sym typeface="Roboto"/>
              </a:rPr>
              <a:t> Optical Character Recognition engine used to extract text from scanned or image-based documents.</a:t>
            </a:r>
            <a:endParaRPr sz="1650">
              <a:latin typeface="Roboto"/>
              <a:ea typeface="Roboto"/>
              <a:cs typeface="Roboto"/>
              <a:sym typeface="Roboto"/>
            </a:endParaRPr>
          </a:p>
          <a:p>
            <a:pPr indent="-333375" lvl="0" marL="457200" rtl="0" algn="l">
              <a:lnSpc>
                <a:spcPct val="115000"/>
              </a:lnSpc>
              <a:spcBef>
                <a:spcPts val="0"/>
              </a:spcBef>
              <a:spcAft>
                <a:spcPts val="0"/>
              </a:spcAft>
              <a:buSzPts val="1650"/>
              <a:buFont typeface="Arial"/>
              <a:buChar char="•"/>
            </a:pPr>
            <a:r>
              <a:rPr b="1" lang="en-US" sz="1650">
                <a:latin typeface="Roboto"/>
                <a:ea typeface="Roboto"/>
                <a:cs typeface="Roboto"/>
                <a:sym typeface="Roboto"/>
              </a:rPr>
              <a:t>Pydantic:</a:t>
            </a:r>
            <a:r>
              <a:rPr lang="en-US" sz="1650">
                <a:latin typeface="Roboto"/>
                <a:ea typeface="Roboto"/>
                <a:cs typeface="Roboto"/>
                <a:sym typeface="Roboto"/>
              </a:rPr>
              <a:t> A data validation library used to enforce strict schema validation and ensure structured extraction accuracy.</a:t>
            </a:r>
            <a:endParaRPr b="1" sz="1650">
              <a:latin typeface="Roboto"/>
              <a:ea typeface="Roboto"/>
              <a:cs typeface="Roboto"/>
              <a:sym typeface="Roboto"/>
            </a:endParaRPr>
          </a:p>
          <a:p>
            <a:pPr indent="0" lvl="0" marL="0" rtl="0" algn="l">
              <a:lnSpc>
                <a:spcPct val="115000"/>
              </a:lnSpc>
              <a:spcBef>
                <a:spcPts val="1200"/>
              </a:spcBef>
              <a:spcAft>
                <a:spcPts val="0"/>
              </a:spcAft>
              <a:buSzPts val="2000"/>
              <a:buNone/>
            </a:pPr>
            <a:r>
              <a:t/>
            </a:r>
            <a:endParaRPr sz="1650">
              <a:latin typeface="Roboto"/>
              <a:ea typeface="Roboto"/>
              <a:cs typeface="Roboto"/>
              <a:sym typeface="Roboto"/>
            </a:endParaRPr>
          </a:p>
          <a:p>
            <a:pPr indent="0" lvl="0" marL="0" rtl="0" algn="l">
              <a:lnSpc>
                <a:spcPct val="150000"/>
              </a:lnSpc>
              <a:spcBef>
                <a:spcPts val="1200"/>
              </a:spcBef>
              <a:spcAft>
                <a:spcPts val="0"/>
              </a:spcAft>
              <a:buSzPts val="2000"/>
              <a:buNone/>
            </a:pPr>
            <a:r>
              <a:t/>
            </a:r>
            <a:endParaRPr sz="1650">
              <a:latin typeface="Roboto"/>
              <a:ea typeface="Roboto"/>
              <a:cs typeface="Roboto"/>
              <a:sym typeface="Roboto"/>
            </a:endParaRPr>
          </a:p>
        </p:txBody>
      </p:sp>
      <p:sp>
        <p:nvSpPr>
          <p:cNvPr id="232" name="Google Shape;232;p30"/>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Tools And Technologies Used</a:t>
            </a:r>
            <a:endParaRPr/>
          </a:p>
        </p:txBody>
      </p:sp>
      <p:sp>
        <p:nvSpPr>
          <p:cNvPr id="239" name="Google Shape;239;p31"/>
          <p:cNvSpPr txBox="1"/>
          <p:nvPr>
            <p:ph idx="1" type="body"/>
          </p:nvPr>
        </p:nvSpPr>
        <p:spPr>
          <a:xfrm>
            <a:off x="609600" y="911625"/>
            <a:ext cx="8353200" cy="5138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SzPts val="2000"/>
              <a:buNone/>
            </a:pPr>
            <a:r>
              <a:rPr b="1" lang="en-US" sz="1700">
                <a:latin typeface="Roboto"/>
                <a:ea typeface="Roboto"/>
                <a:cs typeface="Roboto"/>
                <a:sym typeface="Roboto"/>
              </a:rPr>
              <a:t>Frontend (User Application)</a:t>
            </a:r>
            <a:endParaRPr b="1" sz="1700">
              <a:latin typeface="Roboto"/>
              <a:ea typeface="Roboto"/>
              <a:cs typeface="Roboto"/>
              <a:sym typeface="Roboto"/>
            </a:endParaRPr>
          </a:p>
          <a:p>
            <a:pPr indent="-336550" lvl="0" marL="457200" rtl="0" algn="l">
              <a:lnSpc>
                <a:spcPct val="115000"/>
              </a:lnSpc>
              <a:spcBef>
                <a:spcPts val="1400"/>
              </a:spcBef>
              <a:spcAft>
                <a:spcPts val="0"/>
              </a:spcAft>
              <a:buSzPts val="1700"/>
              <a:buFont typeface="Arial"/>
              <a:buChar char="•"/>
            </a:pPr>
            <a:r>
              <a:rPr b="1" lang="en-US" sz="1700">
                <a:latin typeface="Roboto"/>
                <a:ea typeface="Roboto"/>
                <a:cs typeface="Roboto"/>
                <a:sym typeface="Roboto"/>
              </a:rPr>
              <a:t>React.js:</a:t>
            </a:r>
            <a:r>
              <a:rPr lang="en-US" sz="1700">
                <a:latin typeface="Roboto"/>
                <a:ea typeface="Roboto"/>
                <a:cs typeface="Roboto"/>
                <a:sym typeface="Roboto"/>
              </a:rPr>
              <a:t> JavaScript library used to build the secure document viewer and verification interface.</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Arial"/>
              <a:buChar char="•"/>
            </a:pPr>
            <a:r>
              <a:rPr b="1" lang="en-US" sz="1700">
                <a:latin typeface="Roboto"/>
                <a:ea typeface="Roboto"/>
                <a:cs typeface="Roboto"/>
                <a:sym typeface="Roboto"/>
              </a:rPr>
              <a:t>PDF.js:</a:t>
            </a:r>
            <a:r>
              <a:rPr lang="en-US" sz="1700">
                <a:latin typeface="Roboto"/>
                <a:ea typeface="Roboto"/>
                <a:cs typeface="Roboto"/>
                <a:sym typeface="Roboto"/>
              </a:rPr>
              <a:t> Used for rendering PDF documents in the browser and enabling interactive document visualization.</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Arial"/>
              <a:buChar char="•"/>
            </a:pPr>
            <a:r>
              <a:rPr b="1" lang="en-US" sz="1700">
                <a:latin typeface="Roboto"/>
                <a:ea typeface="Roboto"/>
                <a:cs typeface="Roboto"/>
                <a:sym typeface="Roboto"/>
              </a:rPr>
              <a:t>SVG Overlays:</a:t>
            </a:r>
            <a:r>
              <a:rPr lang="en-US" sz="1700">
                <a:latin typeface="Roboto"/>
                <a:ea typeface="Roboto"/>
                <a:cs typeface="Roboto"/>
                <a:sym typeface="Roboto"/>
              </a:rPr>
              <a:t> Used to display spatial bounding boxes and color-coded verification indicators on the document viewer.</a:t>
            </a:r>
            <a:endParaRPr sz="1700">
              <a:latin typeface="Roboto"/>
              <a:ea typeface="Roboto"/>
              <a:cs typeface="Roboto"/>
              <a:sym typeface="Roboto"/>
            </a:endParaRPr>
          </a:p>
          <a:p>
            <a:pPr indent="0" lvl="0" marL="0" rtl="0" algn="l">
              <a:lnSpc>
                <a:spcPct val="115000"/>
              </a:lnSpc>
              <a:spcBef>
                <a:spcPts val="1400"/>
              </a:spcBef>
              <a:spcAft>
                <a:spcPts val="0"/>
              </a:spcAft>
              <a:buSzPts val="2000"/>
              <a:buNone/>
            </a:pPr>
            <a:r>
              <a:rPr b="1" lang="en-US" sz="1700">
                <a:latin typeface="Roboto"/>
                <a:ea typeface="Roboto"/>
                <a:cs typeface="Roboto"/>
                <a:sym typeface="Roboto"/>
              </a:rPr>
              <a:t>Security &amp; Data Integrity</a:t>
            </a:r>
            <a:endParaRPr b="1" sz="1700">
              <a:latin typeface="Roboto"/>
              <a:ea typeface="Roboto"/>
              <a:cs typeface="Roboto"/>
              <a:sym typeface="Roboto"/>
            </a:endParaRPr>
          </a:p>
          <a:p>
            <a:pPr indent="-336550" lvl="0" marL="457200" rtl="0" algn="l">
              <a:lnSpc>
                <a:spcPct val="115000"/>
              </a:lnSpc>
              <a:spcBef>
                <a:spcPts val="1400"/>
              </a:spcBef>
              <a:spcAft>
                <a:spcPts val="0"/>
              </a:spcAft>
              <a:buSzPts val="1700"/>
              <a:buFont typeface="Arial"/>
              <a:buChar char="•"/>
            </a:pPr>
            <a:r>
              <a:rPr b="1" lang="en-US" sz="1700">
                <a:latin typeface="Roboto"/>
                <a:ea typeface="Roboto"/>
                <a:cs typeface="Roboto"/>
                <a:sym typeface="Roboto"/>
              </a:rPr>
              <a:t>Microsoft Entra Verified ID:</a:t>
            </a:r>
            <a:r>
              <a:rPr lang="en-US" sz="1700">
                <a:latin typeface="Roboto"/>
                <a:ea typeface="Roboto"/>
                <a:cs typeface="Roboto"/>
                <a:sym typeface="Roboto"/>
              </a:rPr>
              <a:t> A decentralized identity verification system used to validate verifiable credentials without direct database access.</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Arial"/>
              <a:buChar char="•"/>
            </a:pPr>
            <a:r>
              <a:rPr b="1" lang="en-US" sz="1700">
                <a:latin typeface="Roboto"/>
                <a:ea typeface="Roboto"/>
                <a:cs typeface="Roboto"/>
                <a:sym typeface="Roboto"/>
              </a:rPr>
              <a:t>Cardano Blockchain (Preprod Testnet):</a:t>
            </a:r>
            <a:r>
              <a:rPr lang="en-US" sz="1700">
                <a:latin typeface="Roboto"/>
                <a:ea typeface="Roboto"/>
                <a:cs typeface="Roboto"/>
                <a:sym typeface="Roboto"/>
              </a:rPr>
              <a:t> Used to anchor cryptographic hashes of verification proofs to create an immutable audit trail.</a:t>
            </a:r>
            <a:endParaRPr sz="1700">
              <a:latin typeface="Roboto"/>
              <a:ea typeface="Roboto"/>
              <a:cs typeface="Roboto"/>
              <a:sym typeface="Roboto"/>
            </a:endParaRPr>
          </a:p>
          <a:p>
            <a:pPr indent="-336550" lvl="0" marL="457200" rtl="0" algn="l">
              <a:lnSpc>
                <a:spcPct val="115000"/>
              </a:lnSpc>
              <a:spcBef>
                <a:spcPts val="0"/>
              </a:spcBef>
              <a:spcAft>
                <a:spcPts val="0"/>
              </a:spcAft>
              <a:buSzPts val="1700"/>
              <a:buFont typeface="Arial"/>
              <a:buChar char="•"/>
            </a:pPr>
            <a:r>
              <a:rPr b="1" lang="en-US" sz="1700">
                <a:latin typeface="Roboto"/>
                <a:ea typeface="Roboto"/>
                <a:cs typeface="Roboto"/>
                <a:sym typeface="Roboto"/>
              </a:rPr>
              <a:t>Zero-Retention Processing Environment:</a:t>
            </a:r>
            <a:r>
              <a:rPr lang="en-US" sz="1700">
                <a:latin typeface="Roboto"/>
                <a:ea typeface="Roboto"/>
                <a:cs typeface="Roboto"/>
                <a:sym typeface="Roboto"/>
              </a:rPr>
              <a:t> Ensures that documents and extracted personal data are processed only in temporary memory and securely deleted after verification.</a:t>
            </a:r>
            <a:endParaRPr sz="1700">
              <a:latin typeface="Roboto"/>
              <a:ea typeface="Roboto"/>
              <a:cs typeface="Roboto"/>
              <a:sym typeface="Roboto"/>
            </a:endParaRPr>
          </a:p>
          <a:p>
            <a:pPr indent="0" lvl="0" marL="0" rtl="0" algn="l">
              <a:lnSpc>
                <a:spcPct val="115000"/>
              </a:lnSpc>
              <a:spcBef>
                <a:spcPts val="1200"/>
              </a:spcBef>
              <a:spcAft>
                <a:spcPts val="0"/>
              </a:spcAft>
              <a:buSzPts val="2000"/>
              <a:buNone/>
            </a:pPr>
            <a:r>
              <a:t/>
            </a:r>
            <a:endParaRPr sz="1700">
              <a:latin typeface="Roboto"/>
              <a:ea typeface="Roboto"/>
              <a:cs typeface="Roboto"/>
              <a:sym typeface="Roboto"/>
            </a:endParaRPr>
          </a:p>
          <a:p>
            <a:pPr indent="0" lvl="0" marL="0" rtl="0" algn="l">
              <a:lnSpc>
                <a:spcPct val="150000"/>
              </a:lnSpc>
              <a:spcBef>
                <a:spcPts val="1200"/>
              </a:spcBef>
              <a:spcAft>
                <a:spcPts val="0"/>
              </a:spcAft>
              <a:buSzPts val="2000"/>
              <a:buNone/>
            </a:pPr>
            <a:r>
              <a:t/>
            </a:r>
            <a:endParaRPr sz="1700">
              <a:latin typeface="Roboto"/>
              <a:ea typeface="Roboto"/>
              <a:cs typeface="Roboto"/>
              <a:sym typeface="Roboto"/>
            </a:endParaRPr>
          </a:p>
        </p:txBody>
      </p:sp>
      <p:sp>
        <p:nvSpPr>
          <p:cNvPr id="240" name="Google Shape;240;p31"/>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Tools And Technologies Used</a:t>
            </a:r>
            <a:endParaRPr/>
          </a:p>
        </p:txBody>
      </p:sp>
      <p:sp>
        <p:nvSpPr>
          <p:cNvPr id="247" name="Google Shape;247;p32"/>
          <p:cNvSpPr txBox="1"/>
          <p:nvPr>
            <p:ph idx="1" type="body"/>
          </p:nvPr>
        </p:nvSpPr>
        <p:spPr>
          <a:xfrm>
            <a:off x="609600" y="911625"/>
            <a:ext cx="8353200" cy="53259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SzPts val="2000"/>
              <a:buNone/>
            </a:pPr>
            <a:r>
              <a:rPr b="1" lang="en-US" sz="1700">
                <a:latin typeface="Roboto"/>
                <a:ea typeface="Roboto"/>
                <a:cs typeface="Roboto"/>
                <a:sym typeface="Roboto"/>
              </a:rPr>
              <a:t>External Verification and Integration</a:t>
            </a:r>
            <a:endParaRPr b="1" sz="1700">
              <a:latin typeface="Roboto"/>
              <a:ea typeface="Roboto"/>
              <a:cs typeface="Roboto"/>
              <a:sym typeface="Roboto"/>
            </a:endParaRPr>
          </a:p>
          <a:p>
            <a:pPr indent="-336550" lvl="0" marL="457200" rtl="0" algn="l">
              <a:spcBef>
                <a:spcPts val="1200"/>
              </a:spcBef>
              <a:spcAft>
                <a:spcPts val="0"/>
              </a:spcAft>
              <a:buSzPts val="1700"/>
              <a:buFont typeface="Roboto"/>
              <a:buChar char="•"/>
            </a:pPr>
            <a:r>
              <a:rPr b="1" lang="en-US" sz="1700">
                <a:latin typeface="Roboto"/>
                <a:ea typeface="Roboto"/>
                <a:cs typeface="Roboto"/>
                <a:sym typeface="Roboto"/>
              </a:rPr>
              <a:t>VIT Registry REST API:</a:t>
            </a:r>
            <a:r>
              <a:rPr lang="en-US" sz="1700">
                <a:latin typeface="Roboto"/>
                <a:ea typeface="Roboto"/>
                <a:cs typeface="Roboto"/>
                <a:sym typeface="Roboto"/>
              </a:rPr>
              <a:t> Used to verify academic records and institutional credentials.</a:t>
            </a:r>
            <a:endParaRPr sz="1700">
              <a:latin typeface="Roboto"/>
              <a:ea typeface="Roboto"/>
              <a:cs typeface="Roboto"/>
              <a:sym typeface="Roboto"/>
            </a:endParaRPr>
          </a:p>
          <a:p>
            <a:pPr indent="-336550" lvl="0" marL="457200" rtl="0" algn="l">
              <a:lnSpc>
                <a:spcPct val="150000"/>
              </a:lnSpc>
              <a:spcBef>
                <a:spcPts val="0"/>
              </a:spcBef>
              <a:spcAft>
                <a:spcPts val="0"/>
              </a:spcAft>
              <a:buSzPts val="1700"/>
              <a:buFont typeface="Roboto"/>
              <a:buChar char="•"/>
            </a:pPr>
            <a:r>
              <a:rPr b="1" lang="en-US" sz="1700">
                <a:latin typeface="Roboto"/>
                <a:ea typeface="Roboto"/>
                <a:cs typeface="Roboto"/>
                <a:sym typeface="Roboto"/>
              </a:rPr>
              <a:t>Verification Connector Framework:</a:t>
            </a:r>
            <a:r>
              <a:rPr lang="en-US" sz="1700">
                <a:latin typeface="Roboto"/>
                <a:ea typeface="Roboto"/>
                <a:cs typeface="Roboto"/>
                <a:sym typeface="Roboto"/>
              </a:rPr>
              <a:t> A modular integration layer that allows the system to connect with institutional registries and decentralized identity services for validation.</a:t>
            </a:r>
            <a:endParaRPr b="1" sz="1700">
              <a:latin typeface="Roboto"/>
              <a:ea typeface="Roboto"/>
              <a:cs typeface="Roboto"/>
              <a:sym typeface="Roboto"/>
            </a:endParaRPr>
          </a:p>
          <a:p>
            <a:pPr indent="0" lvl="0" marL="457200" rtl="0" algn="l">
              <a:lnSpc>
                <a:spcPct val="150000"/>
              </a:lnSpc>
              <a:spcBef>
                <a:spcPts val="1200"/>
              </a:spcBef>
              <a:spcAft>
                <a:spcPts val="0"/>
              </a:spcAft>
              <a:buNone/>
            </a:pPr>
            <a:r>
              <a:t/>
            </a:r>
            <a:endParaRPr b="1" sz="1700">
              <a:latin typeface="Roboto"/>
              <a:ea typeface="Roboto"/>
              <a:cs typeface="Roboto"/>
              <a:sym typeface="Roboto"/>
            </a:endParaRPr>
          </a:p>
        </p:txBody>
      </p:sp>
      <p:sp>
        <p:nvSpPr>
          <p:cNvPr id="248" name="Google Shape;248;p32"/>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Algorithms</a:t>
            </a:r>
            <a:endParaRPr/>
          </a:p>
        </p:txBody>
      </p:sp>
      <p:sp>
        <p:nvSpPr>
          <p:cNvPr id="255" name="Google Shape;255;p33"/>
          <p:cNvSpPr txBox="1"/>
          <p:nvPr>
            <p:ph idx="1" type="body"/>
          </p:nvPr>
        </p:nvSpPr>
        <p:spPr>
          <a:xfrm>
            <a:off x="609600" y="911629"/>
            <a:ext cx="8353200" cy="5733300"/>
          </a:xfrm>
          <a:prstGeom prst="rect">
            <a:avLst/>
          </a:prstGeom>
          <a:noFill/>
          <a:ln>
            <a:noFill/>
          </a:ln>
        </p:spPr>
        <p:txBody>
          <a:bodyPr anchorCtr="0" anchor="t" bIns="45700" lIns="91425" spcFirstLastPara="1" rIns="91425" wrap="square" tIns="45700">
            <a:noAutofit/>
          </a:bodyPr>
          <a:lstStyle/>
          <a:p>
            <a:pPr indent="-336550" lvl="0" marL="457200" rtl="0" algn="l">
              <a:lnSpc>
                <a:spcPct val="150000"/>
              </a:lnSpc>
              <a:spcBef>
                <a:spcPts val="1200"/>
              </a:spcBef>
              <a:spcAft>
                <a:spcPts val="0"/>
              </a:spcAft>
              <a:buSzPts val="1700"/>
              <a:buFont typeface="Roboto"/>
              <a:buAutoNum type="arabicPeriod"/>
            </a:pPr>
            <a:r>
              <a:rPr b="1" lang="en-US" sz="1700">
                <a:latin typeface="Roboto"/>
                <a:ea typeface="Roboto"/>
                <a:cs typeface="Roboto"/>
                <a:sym typeface="Roboto"/>
              </a:rPr>
              <a:t>SHA-256 Cryptographic Hashing</a:t>
            </a:r>
            <a:endParaRPr b="1" sz="1700">
              <a:latin typeface="Roboto"/>
              <a:ea typeface="Roboto"/>
              <a:cs typeface="Roboto"/>
              <a:sym typeface="Roboto"/>
            </a:endParaRPr>
          </a:p>
          <a:p>
            <a:pPr indent="0" lvl="0" marL="457200" rtl="0" algn="l">
              <a:lnSpc>
                <a:spcPct val="150000"/>
              </a:lnSpc>
              <a:spcBef>
                <a:spcPts val="1200"/>
              </a:spcBef>
              <a:spcAft>
                <a:spcPts val="0"/>
              </a:spcAft>
              <a:buNone/>
            </a:pPr>
            <a:r>
              <a:rPr lang="en-US" sz="1700">
                <a:latin typeface="Roboto"/>
                <a:ea typeface="Roboto"/>
                <a:cs typeface="Roboto"/>
                <a:sym typeface="Roboto"/>
              </a:rPr>
              <a:t>SHA-256 is used to generate a unique cryptographic fingerprint (doc_id) for every uploaded document. When a PDF is received, the system computes a 256-bit hash value from the raw document bytes. This hash acts as a permanent identifier for the document without revealing its actual content. It ensures document integrity because even a small change in the document will produce a completely different hash. The hash is later used for verification and proof anchoring while avoiding storage of the original document data.</a:t>
            </a:r>
            <a:endParaRPr sz="1700">
              <a:latin typeface="Roboto"/>
              <a:ea typeface="Roboto"/>
              <a:cs typeface="Roboto"/>
              <a:sym typeface="Roboto"/>
            </a:endParaRPr>
          </a:p>
          <a:p>
            <a:pPr indent="0" lvl="0" marL="0" rtl="0" algn="l">
              <a:lnSpc>
                <a:spcPct val="150000"/>
              </a:lnSpc>
              <a:spcBef>
                <a:spcPts val="1200"/>
              </a:spcBef>
              <a:spcAft>
                <a:spcPts val="0"/>
              </a:spcAft>
              <a:buNone/>
            </a:pPr>
            <a:r>
              <a:t/>
            </a:r>
            <a:endParaRPr sz="1700">
              <a:latin typeface="Roboto"/>
              <a:ea typeface="Roboto"/>
              <a:cs typeface="Roboto"/>
              <a:sym typeface="Roboto"/>
            </a:endParaRPr>
          </a:p>
        </p:txBody>
      </p:sp>
      <p:sp>
        <p:nvSpPr>
          <p:cNvPr id="256" name="Google Shape;256;p33"/>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pic>
        <p:nvPicPr>
          <p:cNvPr id="257" name="Google Shape;257;p33"/>
          <p:cNvPicPr preferRelativeResize="0"/>
          <p:nvPr/>
        </p:nvPicPr>
        <p:blipFill>
          <a:blip r:embed="rId3">
            <a:alphaModFix/>
          </a:blip>
          <a:stretch>
            <a:fillRect/>
          </a:stretch>
        </p:blipFill>
        <p:spPr>
          <a:xfrm>
            <a:off x="2812073" y="4133100"/>
            <a:ext cx="3462401" cy="2308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Algorithms</a:t>
            </a:r>
            <a:endParaRPr/>
          </a:p>
        </p:txBody>
      </p:sp>
      <p:sp>
        <p:nvSpPr>
          <p:cNvPr id="264" name="Google Shape;264;p34"/>
          <p:cNvSpPr txBox="1"/>
          <p:nvPr>
            <p:ph idx="1" type="body"/>
          </p:nvPr>
        </p:nvSpPr>
        <p:spPr>
          <a:xfrm>
            <a:off x="609600" y="911629"/>
            <a:ext cx="8353200" cy="5733300"/>
          </a:xfrm>
          <a:prstGeom prst="rect">
            <a:avLst/>
          </a:prstGeom>
          <a:noFill/>
          <a:ln>
            <a:noFill/>
          </a:ln>
        </p:spPr>
        <p:txBody>
          <a:bodyPr anchorCtr="0" anchor="t" bIns="45700" lIns="91425" spcFirstLastPara="1" rIns="91425" wrap="square" tIns="45700">
            <a:noAutofit/>
          </a:bodyPr>
          <a:lstStyle/>
          <a:p>
            <a:pPr indent="-336550" lvl="0" marL="457200" rtl="0" algn="l">
              <a:spcBef>
                <a:spcPts val="1200"/>
              </a:spcBef>
              <a:spcAft>
                <a:spcPts val="0"/>
              </a:spcAft>
              <a:buSzPts val="1700"/>
              <a:buFont typeface="Roboto"/>
              <a:buAutoNum type="arabicPeriod" startAt="2"/>
            </a:pPr>
            <a:r>
              <a:rPr b="1" lang="en-US" sz="1700">
                <a:latin typeface="Roboto"/>
                <a:ea typeface="Roboto"/>
                <a:cs typeface="Roboto"/>
                <a:sym typeface="Roboto"/>
              </a:rPr>
              <a:t>Spatial Coordinate Mapping Algorithm</a:t>
            </a:r>
            <a:endParaRPr sz="1700">
              <a:latin typeface="Roboto"/>
              <a:ea typeface="Roboto"/>
              <a:cs typeface="Roboto"/>
              <a:sym typeface="Roboto"/>
            </a:endParaRPr>
          </a:p>
          <a:p>
            <a:pPr indent="0" lvl="0" marL="457200" rtl="0" algn="l">
              <a:spcBef>
                <a:spcPts val="1200"/>
              </a:spcBef>
              <a:spcAft>
                <a:spcPts val="0"/>
              </a:spcAft>
              <a:buNone/>
            </a:pPr>
            <a:r>
              <a:rPr lang="en-US" sz="1700">
                <a:latin typeface="Roboto"/>
                <a:ea typeface="Roboto"/>
                <a:cs typeface="Roboto"/>
                <a:sym typeface="Roboto"/>
              </a:rPr>
              <a:t>The system performs layout-aware text extraction by mapping each word in the document to its exact position on the page. Using PDF parsing or OCR, the extracted text is stored along with bounding box coordinates representing its location in the document.</a:t>
            </a:r>
            <a:endParaRPr sz="1700">
              <a:latin typeface="Roboto"/>
              <a:ea typeface="Roboto"/>
              <a:cs typeface="Roboto"/>
              <a:sym typeface="Roboto"/>
            </a:endParaRPr>
          </a:p>
          <a:p>
            <a:pPr indent="0" lvl="0" marL="457200" rtl="0" algn="l">
              <a:spcBef>
                <a:spcPts val="1200"/>
              </a:spcBef>
              <a:spcAft>
                <a:spcPts val="0"/>
              </a:spcAft>
              <a:buNone/>
            </a:pPr>
            <a:r>
              <a:rPr lang="en-US" sz="1700">
                <a:latin typeface="Roboto"/>
                <a:ea typeface="Roboto"/>
                <a:cs typeface="Roboto"/>
                <a:sym typeface="Roboto"/>
              </a:rPr>
              <a:t>Coordinate representation:</a:t>
            </a:r>
            <a:endParaRPr sz="1700">
              <a:latin typeface="Roboto"/>
              <a:ea typeface="Roboto"/>
              <a:cs typeface="Roboto"/>
              <a:sym typeface="Roboto"/>
            </a:endParaRPr>
          </a:p>
          <a:p>
            <a:pPr indent="457200" lvl="0" marL="457200" rtl="0" algn="l">
              <a:spcBef>
                <a:spcPts val="1200"/>
              </a:spcBef>
              <a:spcAft>
                <a:spcPts val="0"/>
              </a:spcAft>
              <a:buNone/>
            </a:pPr>
            <a:r>
              <a:rPr lang="en-US" sz="1700">
                <a:latin typeface="Roboto"/>
                <a:ea typeface="Roboto"/>
                <a:cs typeface="Roboto"/>
                <a:sym typeface="Roboto"/>
              </a:rPr>
              <a:t>[x0, y0, x1, y1]</a:t>
            </a:r>
            <a:endParaRPr sz="1700">
              <a:latin typeface="Roboto"/>
              <a:ea typeface="Roboto"/>
              <a:cs typeface="Roboto"/>
              <a:sym typeface="Roboto"/>
            </a:endParaRPr>
          </a:p>
          <a:p>
            <a:pPr indent="0" lvl="0" marL="457200" rtl="0" algn="l">
              <a:spcBef>
                <a:spcPts val="1200"/>
              </a:spcBef>
              <a:spcAft>
                <a:spcPts val="0"/>
              </a:spcAft>
              <a:buNone/>
            </a:pPr>
            <a:r>
              <a:rPr lang="en-US" sz="1700">
                <a:latin typeface="Roboto"/>
                <a:ea typeface="Roboto"/>
                <a:cs typeface="Roboto"/>
                <a:sym typeface="Roboto"/>
              </a:rPr>
              <a:t>These coordinates correspond to the rectangular region containing the word in the PDF. This mapping allows the system to maintain a direct connection between extracted data and the original document layout, enabling visual highlighting and accurate validation of extracted fields.</a:t>
            </a:r>
            <a:endParaRPr sz="1700">
              <a:latin typeface="Roboto"/>
              <a:ea typeface="Roboto"/>
              <a:cs typeface="Roboto"/>
              <a:sym typeface="Roboto"/>
            </a:endParaRPr>
          </a:p>
          <a:p>
            <a:pPr indent="0" lvl="0" marL="457200" rtl="0" algn="l">
              <a:lnSpc>
                <a:spcPct val="150000"/>
              </a:lnSpc>
              <a:spcBef>
                <a:spcPts val="1200"/>
              </a:spcBef>
              <a:spcAft>
                <a:spcPts val="0"/>
              </a:spcAft>
              <a:buNone/>
            </a:pPr>
            <a:r>
              <a:rPr b="1" lang="en-US" sz="1700">
                <a:latin typeface="Roboto"/>
                <a:ea typeface="Roboto"/>
                <a:cs typeface="Roboto"/>
                <a:sym typeface="Roboto"/>
              </a:rPr>
              <a:t> </a:t>
            </a:r>
            <a:endParaRPr sz="1700">
              <a:latin typeface="Roboto"/>
              <a:ea typeface="Roboto"/>
              <a:cs typeface="Roboto"/>
              <a:sym typeface="Roboto"/>
            </a:endParaRPr>
          </a:p>
        </p:txBody>
      </p:sp>
      <p:sp>
        <p:nvSpPr>
          <p:cNvPr id="265" name="Google Shape;265;p34"/>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Algorithms</a:t>
            </a:r>
            <a:endParaRPr/>
          </a:p>
        </p:txBody>
      </p:sp>
      <p:sp>
        <p:nvSpPr>
          <p:cNvPr id="272" name="Google Shape;272;p35"/>
          <p:cNvSpPr txBox="1"/>
          <p:nvPr>
            <p:ph idx="1" type="body"/>
          </p:nvPr>
        </p:nvSpPr>
        <p:spPr>
          <a:xfrm>
            <a:off x="609600" y="911629"/>
            <a:ext cx="8353200" cy="5733300"/>
          </a:xfrm>
          <a:prstGeom prst="rect">
            <a:avLst/>
          </a:prstGeom>
          <a:noFill/>
          <a:ln>
            <a:noFill/>
          </a:ln>
        </p:spPr>
        <p:txBody>
          <a:bodyPr anchorCtr="0" anchor="t" bIns="45700" lIns="91425" spcFirstLastPara="1" rIns="91425" wrap="square" tIns="45700">
            <a:noAutofit/>
          </a:bodyPr>
          <a:lstStyle/>
          <a:p>
            <a:pPr indent="-336550" lvl="0" marL="457200" rtl="0" algn="l">
              <a:spcBef>
                <a:spcPts val="1200"/>
              </a:spcBef>
              <a:spcAft>
                <a:spcPts val="0"/>
              </a:spcAft>
              <a:buSzPts val="1700"/>
              <a:buFont typeface="Roboto"/>
              <a:buAutoNum type="arabicPeriod" startAt="3"/>
            </a:pPr>
            <a:r>
              <a:rPr b="1" lang="en-US" sz="1700">
                <a:latin typeface="Roboto"/>
                <a:ea typeface="Roboto"/>
                <a:cs typeface="Roboto"/>
                <a:sym typeface="Roboto"/>
              </a:rPr>
              <a:t>Deterministic Type Enforcement (Schema Validation)</a:t>
            </a:r>
            <a:endParaRPr sz="1700">
              <a:latin typeface="Roboto"/>
              <a:ea typeface="Roboto"/>
              <a:cs typeface="Roboto"/>
              <a:sym typeface="Roboto"/>
            </a:endParaRPr>
          </a:p>
          <a:p>
            <a:pPr indent="0" lvl="0" marL="457200" rtl="0" algn="l">
              <a:spcBef>
                <a:spcPts val="1200"/>
              </a:spcBef>
              <a:spcAft>
                <a:spcPts val="0"/>
              </a:spcAft>
              <a:buNone/>
            </a:pPr>
            <a:r>
              <a:rPr lang="en-US" sz="1700">
                <a:latin typeface="Roboto"/>
                <a:ea typeface="Roboto"/>
                <a:cs typeface="Roboto"/>
                <a:sym typeface="Roboto"/>
              </a:rPr>
              <a:t>The extracted information generated by the AI extraction agent is validated using strict schema validation rules implemented with Pydantic. This algorithm ensures that the extracted data conforms to predefined data structures defined in the Canonical Metadata Schema. If the AI output contains invalid formats, missing fields, or incorrect data types, the system rejects those values before they proceed to the verification stage. This acts as a deterministic gatekeeper between probabilistic AI extraction and the verification system, preventing incorrect or hallucinated data from entering the validation pipeline.</a:t>
            </a:r>
            <a:endParaRPr sz="1700">
              <a:latin typeface="Roboto"/>
              <a:ea typeface="Roboto"/>
              <a:cs typeface="Roboto"/>
              <a:sym typeface="Roboto"/>
            </a:endParaRPr>
          </a:p>
          <a:p>
            <a:pPr indent="0" lvl="0" marL="457200" rtl="0" algn="l">
              <a:lnSpc>
                <a:spcPct val="150000"/>
              </a:lnSpc>
              <a:spcBef>
                <a:spcPts val="1200"/>
              </a:spcBef>
              <a:spcAft>
                <a:spcPts val="0"/>
              </a:spcAft>
              <a:buNone/>
            </a:pPr>
            <a:r>
              <a:rPr b="1" lang="en-US" sz="1700">
                <a:latin typeface="Roboto"/>
                <a:ea typeface="Roboto"/>
                <a:cs typeface="Roboto"/>
                <a:sym typeface="Roboto"/>
              </a:rPr>
              <a:t> </a:t>
            </a:r>
            <a:endParaRPr sz="1700">
              <a:latin typeface="Roboto"/>
              <a:ea typeface="Roboto"/>
              <a:cs typeface="Roboto"/>
              <a:sym typeface="Roboto"/>
            </a:endParaRPr>
          </a:p>
        </p:txBody>
      </p:sp>
      <p:sp>
        <p:nvSpPr>
          <p:cNvPr id="273" name="Google Shape;273;p35"/>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Results and Discussion</a:t>
            </a:r>
            <a:endParaRPr/>
          </a:p>
        </p:txBody>
      </p:sp>
      <p:sp>
        <p:nvSpPr>
          <p:cNvPr id="280" name="Google Shape;280;p36"/>
          <p:cNvSpPr txBox="1"/>
          <p:nvPr>
            <p:ph idx="1" type="body"/>
          </p:nvPr>
        </p:nvSpPr>
        <p:spPr>
          <a:xfrm>
            <a:off x="572950" y="911625"/>
            <a:ext cx="8353200" cy="4642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2400"/>
              </a:spcBef>
              <a:spcAft>
                <a:spcPts val="0"/>
              </a:spcAft>
              <a:buClr>
                <a:schemeClr val="dk1"/>
              </a:buClr>
              <a:buSzPts val="1100"/>
              <a:buFont typeface="Arial"/>
              <a:buNone/>
            </a:pPr>
            <a:r>
              <a:rPr b="1" lang="en-US" sz="1700">
                <a:latin typeface="Roboto"/>
                <a:ea typeface="Roboto"/>
                <a:cs typeface="Roboto"/>
                <a:sym typeface="Roboto"/>
              </a:rPr>
              <a:t>Results</a:t>
            </a:r>
            <a:endParaRPr b="1" sz="1700">
              <a:latin typeface="Roboto"/>
              <a:ea typeface="Roboto"/>
              <a:cs typeface="Roboto"/>
              <a:sym typeface="Roboto"/>
            </a:endParaRPr>
          </a:p>
          <a:p>
            <a:pPr indent="0" lvl="0" marL="0" rtl="0" algn="l">
              <a:lnSpc>
                <a:spcPct val="115000"/>
              </a:lnSpc>
              <a:spcBef>
                <a:spcPts val="1200"/>
              </a:spcBef>
              <a:spcAft>
                <a:spcPts val="0"/>
              </a:spcAft>
              <a:buSzPts val="1100"/>
              <a:buNone/>
            </a:pPr>
            <a:r>
              <a:rPr lang="en-US" sz="1700">
                <a:latin typeface="Roboto"/>
                <a:ea typeface="Roboto"/>
                <a:cs typeface="Roboto"/>
                <a:sym typeface="Roboto"/>
              </a:rPr>
              <a:t>The proposed system successfully demonstrates an automated pipeline for document verification. The system was able to process uploaded PDF documents, extract relevant information using AI-based extraction, and map the extracted data to a canonical metadata schema. Spatial text mapping allowed the system to link extracted fields with their exact locations in the document. The validation connector framework verified the extracted data against configured trust sources and returned Boolean verification results along with reason codes. The system also generated an audit record and completed secure cleanup of temporary data, ensuring that no sensitive information remained after processing.</a:t>
            </a:r>
            <a:endParaRPr sz="1700">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t/>
            </a:r>
            <a:endParaRPr sz="1700">
              <a:latin typeface="Roboto"/>
              <a:ea typeface="Roboto"/>
              <a:cs typeface="Roboto"/>
              <a:sym typeface="Roboto"/>
            </a:endParaRPr>
          </a:p>
          <a:p>
            <a:pPr indent="0" lvl="0" marL="0" rtl="0" algn="l">
              <a:lnSpc>
                <a:spcPct val="150000"/>
              </a:lnSpc>
              <a:spcBef>
                <a:spcPts val="1200"/>
              </a:spcBef>
              <a:spcAft>
                <a:spcPts val="0"/>
              </a:spcAft>
              <a:buSzPts val="2000"/>
              <a:buNone/>
            </a:pPr>
            <a:r>
              <a:t/>
            </a:r>
            <a:endParaRPr b="1" sz="1700">
              <a:latin typeface="Roboto"/>
              <a:ea typeface="Roboto"/>
              <a:cs typeface="Roboto"/>
              <a:sym typeface="Roboto"/>
            </a:endParaRPr>
          </a:p>
        </p:txBody>
      </p:sp>
      <p:sp>
        <p:nvSpPr>
          <p:cNvPr id="281" name="Google Shape;281;p36"/>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Results and Discussion</a:t>
            </a:r>
            <a:endParaRPr/>
          </a:p>
        </p:txBody>
      </p:sp>
      <p:sp>
        <p:nvSpPr>
          <p:cNvPr id="288" name="Google Shape;288;p37"/>
          <p:cNvSpPr txBox="1"/>
          <p:nvPr>
            <p:ph idx="1" type="body"/>
          </p:nvPr>
        </p:nvSpPr>
        <p:spPr>
          <a:xfrm>
            <a:off x="572950" y="911625"/>
            <a:ext cx="8353200" cy="4642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SzPts val="2000"/>
              <a:buNone/>
            </a:pPr>
            <a:r>
              <a:rPr b="1" lang="en-US" sz="1700">
                <a:latin typeface="Roboto"/>
                <a:ea typeface="Roboto"/>
                <a:cs typeface="Roboto"/>
                <a:sym typeface="Roboto"/>
              </a:rPr>
              <a:t>Discussion</a:t>
            </a:r>
            <a:endParaRPr b="1" sz="1700">
              <a:latin typeface="Roboto"/>
              <a:ea typeface="Roboto"/>
              <a:cs typeface="Roboto"/>
              <a:sym typeface="Roboto"/>
            </a:endParaRPr>
          </a:p>
          <a:p>
            <a:pPr indent="0" lvl="0" marL="0" rtl="0" algn="l">
              <a:lnSpc>
                <a:spcPct val="150000"/>
              </a:lnSpc>
              <a:spcBef>
                <a:spcPts val="1200"/>
              </a:spcBef>
              <a:spcAft>
                <a:spcPts val="0"/>
              </a:spcAft>
              <a:buSzPts val="2000"/>
              <a:buNone/>
            </a:pPr>
            <a:r>
              <a:rPr lang="en-US" sz="1700">
                <a:latin typeface="Roboto"/>
                <a:ea typeface="Roboto"/>
                <a:cs typeface="Roboto"/>
                <a:sym typeface="Roboto"/>
              </a:rPr>
              <a:t>The implementation demonstrates that combining document processing, AI-based extraction, and structured validation mechanisms can significantly improve the efficiency of document verification. Spatial grounding helps ensure that extracted data corresponds to actual content in the document, reducing the risk of incorrect extraction results. The modular connector framework allows the system to integrate with different verification sources without changing the core extraction logic. The zero-retention processing approach also helps address privacy concerns by ensuring that sensitive document information is not permanently stored within the system.</a:t>
            </a:r>
            <a:endParaRPr sz="1700">
              <a:latin typeface="Roboto"/>
              <a:ea typeface="Roboto"/>
              <a:cs typeface="Roboto"/>
              <a:sym typeface="Roboto"/>
            </a:endParaRPr>
          </a:p>
        </p:txBody>
      </p:sp>
      <p:sp>
        <p:nvSpPr>
          <p:cNvPr id="289" name="Google Shape;289;p37"/>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8"/>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Conclusion</a:t>
            </a:r>
            <a:endParaRPr/>
          </a:p>
        </p:txBody>
      </p:sp>
      <p:sp>
        <p:nvSpPr>
          <p:cNvPr id="296" name="Google Shape;296;p38"/>
          <p:cNvSpPr txBox="1"/>
          <p:nvPr>
            <p:ph idx="1" type="body"/>
          </p:nvPr>
        </p:nvSpPr>
        <p:spPr>
          <a:xfrm>
            <a:off x="543325" y="933000"/>
            <a:ext cx="8353200" cy="5605500"/>
          </a:xfrm>
          <a:prstGeom prst="rect">
            <a:avLst/>
          </a:prstGeom>
          <a:noFill/>
          <a:ln>
            <a:noFill/>
          </a:ln>
        </p:spPr>
        <p:txBody>
          <a:bodyPr anchorCtr="0" anchor="t" bIns="45700" lIns="91425" spcFirstLastPara="1" rIns="91425" wrap="square" tIns="45700">
            <a:noAutofit/>
          </a:bodyPr>
          <a:lstStyle/>
          <a:p>
            <a:pPr indent="-336550" lvl="0" marL="457200" rtl="0" algn="just">
              <a:lnSpc>
                <a:spcPct val="140000"/>
              </a:lnSpc>
              <a:spcBef>
                <a:spcPts val="400"/>
              </a:spcBef>
              <a:spcAft>
                <a:spcPts val="0"/>
              </a:spcAft>
              <a:buSzPts val="1700"/>
              <a:buFont typeface="Roboto"/>
              <a:buChar char="●"/>
            </a:pPr>
            <a:r>
              <a:rPr b="1" lang="en-US" sz="1700">
                <a:latin typeface="Roboto"/>
                <a:ea typeface="Roboto"/>
                <a:cs typeface="Roboto"/>
                <a:sym typeface="Roboto"/>
              </a:rPr>
              <a:t>Key Insights</a:t>
            </a:r>
            <a:r>
              <a:rPr lang="en-US" sz="1700">
                <a:latin typeface="Roboto"/>
                <a:ea typeface="Roboto"/>
                <a:cs typeface="Roboto"/>
                <a:sym typeface="Roboto"/>
              </a:rPr>
              <a:t>: </a:t>
            </a:r>
            <a:endParaRPr sz="1700">
              <a:latin typeface="Roboto"/>
              <a:ea typeface="Roboto"/>
              <a:cs typeface="Roboto"/>
              <a:sym typeface="Roboto"/>
            </a:endParaRPr>
          </a:p>
          <a:p>
            <a:pPr indent="0" lvl="0" marL="457200" rtl="0" algn="just">
              <a:lnSpc>
                <a:spcPct val="140000"/>
              </a:lnSpc>
              <a:spcBef>
                <a:spcPts val="400"/>
              </a:spcBef>
              <a:spcAft>
                <a:spcPts val="0"/>
              </a:spcAft>
              <a:buNone/>
            </a:pPr>
            <a:r>
              <a:rPr lang="en-US" sz="1700">
                <a:latin typeface="Roboto"/>
                <a:ea typeface="Roboto"/>
                <a:cs typeface="Roboto"/>
                <a:sym typeface="Roboto"/>
              </a:rPr>
              <a:t>The combination of local AI extraction and decentralized identity (Entra) provides a robust framework for verifiable student data handling.</a:t>
            </a:r>
            <a:endParaRPr sz="1700">
              <a:latin typeface="Roboto"/>
              <a:ea typeface="Roboto"/>
              <a:cs typeface="Roboto"/>
              <a:sym typeface="Roboto"/>
            </a:endParaRPr>
          </a:p>
          <a:p>
            <a:pPr indent="-336550" lvl="0" marL="457200" rtl="0" algn="just">
              <a:lnSpc>
                <a:spcPct val="140000"/>
              </a:lnSpc>
              <a:spcBef>
                <a:spcPts val="400"/>
              </a:spcBef>
              <a:spcAft>
                <a:spcPts val="0"/>
              </a:spcAft>
              <a:buSzPts val="1700"/>
              <a:buFont typeface="Roboto"/>
              <a:buChar char="●"/>
            </a:pPr>
            <a:r>
              <a:rPr b="1" lang="en-US" sz="1700">
                <a:latin typeface="Roboto"/>
                <a:ea typeface="Roboto"/>
                <a:cs typeface="Roboto"/>
                <a:sym typeface="Roboto"/>
              </a:rPr>
              <a:t>Success Against Objectives</a:t>
            </a:r>
            <a:r>
              <a:rPr lang="en-US" sz="1700">
                <a:latin typeface="Roboto"/>
                <a:ea typeface="Roboto"/>
                <a:cs typeface="Roboto"/>
                <a:sym typeface="Roboto"/>
              </a:rPr>
              <a:t>: </a:t>
            </a:r>
            <a:endParaRPr sz="1700">
              <a:latin typeface="Roboto"/>
              <a:ea typeface="Roboto"/>
              <a:cs typeface="Roboto"/>
              <a:sym typeface="Roboto"/>
            </a:endParaRPr>
          </a:p>
          <a:p>
            <a:pPr indent="0" lvl="0" marL="457200" rtl="0" algn="just">
              <a:lnSpc>
                <a:spcPct val="140000"/>
              </a:lnSpc>
              <a:spcBef>
                <a:spcPts val="400"/>
              </a:spcBef>
              <a:spcAft>
                <a:spcPts val="0"/>
              </a:spcAft>
              <a:buNone/>
            </a:pPr>
            <a:r>
              <a:rPr lang="en-US" sz="1700">
                <a:latin typeface="Roboto"/>
                <a:ea typeface="Roboto"/>
                <a:cs typeface="Roboto"/>
                <a:sym typeface="Roboto"/>
              </a:rPr>
              <a:t>All milestones for Phase I through IV are documented, including strong privacy controls and cryptographic sign-off.</a:t>
            </a:r>
            <a:endParaRPr sz="1700">
              <a:latin typeface="Roboto"/>
              <a:ea typeface="Roboto"/>
              <a:cs typeface="Roboto"/>
              <a:sym typeface="Roboto"/>
            </a:endParaRPr>
          </a:p>
          <a:p>
            <a:pPr indent="-336550" lvl="0" marL="457200" rtl="0" algn="just">
              <a:lnSpc>
                <a:spcPct val="140000"/>
              </a:lnSpc>
              <a:spcBef>
                <a:spcPts val="400"/>
              </a:spcBef>
              <a:spcAft>
                <a:spcPts val="0"/>
              </a:spcAft>
              <a:buSzPts val="1700"/>
              <a:buFont typeface="Roboto"/>
              <a:buChar char="●"/>
            </a:pPr>
            <a:r>
              <a:rPr b="1" lang="en-US" sz="1700">
                <a:latin typeface="Roboto"/>
                <a:ea typeface="Roboto"/>
                <a:cs typeface="Roboto"/>
                <a:sym typeface="Roboto"/>
              </a:rPr>
              <a:t>Feasibility Assessment</a:t>
            </a:r>
            <a:r>
              <a:rPr lang="en-US" sz="1700">
                <a:latin typeface="Roboto"/>
                <a:ea typeface="Roboto"/>
                <a:cs typeface="Roboto"/>
                <a:sym typeface="Roboto"/>
              </a:rPr>
              <a:t>: </a:t>
            </a:r>
            <a:endParaRPr sz="1700">
              <a:latin typeface="Roboto"/>
              <a:ea typeface="Roboto"/>
              <a:cs typeface="Roboto"/>
              <a:sym typeface="Roboto"/>
            </a:endParaRPr>
          </a:p>
          <a:p>
            <a:pPr indent="0" lvl="0" marL="457200" rtl="0" algn="just">
              <a:lnSpc>
                <a:spcPct val="140000"/>
              </a:lnSpc>
              <a:spcBef>
                <a:spcPts val="400"/>
              </a:spcBef>
              <a:spcAft>
                <a:spcPts val="0"/>
              </a:spcAft>
              <a:buNone/>
            </a:pPr>
            <a:r>
              <a:rPr lang="en-US" sz="1700">
                <a:latin typeface="Roboto"/>
                <a:ea typeface="Roboto"/>
                <a:cs typeface="Roboto"/>
                <a:sym typeface="Roboto"/>
              </a:rPr>
              <a:t>The concept is highly viable for institutional deployment, offering a scalable path for automated, secure document verification.</a:t>
            </a:r>
            <a:endParaRPr sz="1700">
              <a:latin typeface="Roboto"/>
              <a:ea typeface="Roboto"/>
              <a:cs typeface="Roboto"/>
              <a:sym typeface="Roboto"/>
            </a:endParaRPr>
          </a:p>
          <a:p>
            <a:pPr indent="0" lvl="0" marL="0" rtl="0" algn="just">
              <a:lnSpc>
                <a:spcPct val="140000"/>
              </a:lnSpc>
              <a:spcBef>
                <a:spcPts val="400"/>
              </a:spcBef>
              <a:spcAft>
                <a:spcPts val="0"/>
              </a:spcAft>
              <a:buSzPts val="2000"/>
              <a:buNone/>
            </a:pPr>
            <a:r>
              <a:t/>
            </a:r>
            <a:endParaRPr sz="1700">
              <a:latin typeface="Roboto"/>
              <a:ea typeface="Roboto"/>
              <a:cs typeface="Roboto"/>
              <a:sym typeface="Roboto"/>
            </a:endParaRPr>
          </a:p>
          <a:p>
            <a:pPr indent="0" lvl="0" marL="0" rtl="0" algn="just">
              <a:lnSpc>
                <a:spcPct val="140000"/>
              </a:lnSpc>
              <a:spcBef>
                <a:spcPts val="400"/>
              </a:spcBef>
              <a:spcAft>
                <a:spcPts val="0"/>
              </a:spcAft>
              <a:buSzPts val="2000"/>
              <a:buNone/>
            </a:pPr>
            <a:r>
              <a:t/>
            </a:r>
            <a:endParaRPr sz="1700">
              <a:latin typeface="Roboto"/>
              <a:ea typeface="Roboto"/>
              <a:cs typeface="Roboto"/>
              <a:sym typeface="Roboto"/>
            </a:endParaRPr>
          </a:p>
          <a:p>
            <a:pPr indent="0" lvl="0" marL="0" rtl="0" algn="just">
              <a:lnSpc>
                <a:spcPct val="140000"/>
              </a:lnSpc>
              <a:spcBef>
                <a:spcPts val="400"/>
              </a:spcBef>
              <a:spcAft>
                <a:spcPts val="0"/>
              </a:spcAft>
              <a:buSzPts val="2000"/>
              <a:buNone/>
            </a:pPr>
            <a:r>
              <a:t/>
            </a:r>
            <a:endParaRPr sz="1700">
              <a:latin typeface="Roboto"/>
              <a:ea typeface="Roboto"/>
              <a:cs typeface="Roboto"/>
              <a:sym typeface="Roboto"/>
            </a:endParaRPr>
          </a:p>
          <a:p>
            <a:pPr indent="0" lvl="0" marL="0" rtl="0" algn="just">
              <a:lnSpc>
                <a:spcPct val="140000"/>
              </a:lnSpc>
              <a:spcBef>
                <a:spcPts val="400"/>
              </a:spcBef>
              <a:spcAft>
                <a:spcPts val="0"/>
              </a:spcAft>
              <a:buSzPts val="2000"/>
              <a:buNone/>
            </a:pPr>
            <a:r>
              <a:t/>
            </a:r>
            <a:endParaRPr sz="1700">
              <a:latin typeface="Roboto"/>
              <a:ea typeface="Roboto"/>
              <a:cs typeface="Roboto"/>
              <a:sym typeface="Roboto"/>
            </a:endParaRPr>
          </a:p>
        </p:txBody>
      </p:sp>
      <p:sp>
        <p:nvSpPr>
          <p:cNvPr id="297" name="Google Shape;297;p38"/>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References</a:t>
            </a:r>
            <a:endParaRPr/>
          </a:p>
        </p:txBody>
      </p:sp>
      <p:sp>
        <p:nvSpPr>
          <p:cNvPr id="304" name="Google Shape;304;p39"/>
          <p:cNvSpPr txBox="1"/>
          <p:nvPr>
            <p:ph idx="1" type="body"/>
          </p:nvPr>
        </p:nvSpPr>
        <p:spPr>
          <a:xfrm>
            <a:off x="609600" y="667404"/>
            <a:ext cx="8353200" cy="57333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50000"/>
              </a:lnSpc>
              <a:spcBef>
                <a:spcPts val="400"/>
              </a:spcBef>
              <a:spcAft>
                <a:spcPts val="0"/>
              </a:spcAft>
              <a:buSzPts val="2000"/>
              <a:buNone/>
            </a:pPr>
            <a:r>
              <a:rPr b="1" lang="en-US" sz="1900">
                <a:latin typeface="Arial"/>
                <a:ea typeface="Arial"/>
                <a:cs typeface="Arial"/>
                <a:sym typeface="Arial"/>
              </a:rPr>
              <a:t>References</a:t>
            </a:r>
            <a:endParaRPr b="1" sz="1900">
              <a:latin typeface="Arial"/>
              <a:ea typeface="Arial"/>
              <a:cs typeface="Arial"/>
              <a:sym typeface="Arial"/>
            </a:endParaRPr>
          </a:p>
          <a:p>
            <a:pPr indent="0" lvl="0" marL="0" rtl="0" algn="l">
              <a:lnSpc>
                <a:spcPct val="150000"/>
              </a:lnSpc>
              <a:spcBef>
                <a:spcPts val="400"/>
              </a:spcBef>
              <a:spcAft>
                <a:spcPts val="0"/>
              </a:spcAft>
              <a:buClr>
                <a:schemeClr val="dk1"/>
              </a:buClr>
              <a:buSzPts val="1100"/>
              <a:buFont typeface="Arial"/>
              <a:buNone/>
            </a:pPr>
            <a:r>
              <a:rPr lang="en-US" sz="1491">
                <a:latin typeface="Arial"/>
                <a:ea typeface="Arial"/>
                <a:cs typeface="Arial"/>
                <a:sym typeface="Arial"/>
              </a:rPr>
              <a:t>[1] Juan Alamrio Berrios Moya, John Ayoade, and Md Ashraf Uddin, “A Zero-Knowledge Proof-Enabled Blockchain-Based Academic Record Verification System,” Sensors, vol. 25, issue 11, 2025, pp: 3450.</a:t>
            </a:r>
            <a:endParaRPr sz="1491">
              <a:latin typeface="Arial"/>
              <a:ea typeface="Arial"/>
              <a:cs typeface="Arial"/>
              <a:sym typeface="Arial"/>
            </a:endParaRPr>
          </a:p>
          <a:p>
            <a:pPr indent="0" lvl="0" marL="0" rtl="0" algn="l">
              <a:lnSpc>
                <a:spcPct val="150000"/>
              </a:lnSpc>
              <a:spcBef>
                <a:spcPts val="400"/>
              </a:spcBef>
              <a:spcAft>
                <a:spcPts val="0"/>
              </a:spcAft>
              <a:buClr>
                <a:schemeClr val="dk1"/>
              </a:buClr>
              <a:buSzPts val="1100"/>
              <a:buFont typeface="Arial"/>
              <a:buNone/>
            </a:pPr>
            <a:r>
              <a:rPr lang="en-US" sz="1491">
                <a:latin typeface="Arial"/>
                <a:ea typeface="Arial"/>
                <a:cs typeface="Arial"/>
                <a:sym typeface="Arial"/>
              </a:rPr>
              <a:t>[2] Rasha Sinha and Mrs. Rekha B S, “Digitization of Document and Information Extraction using OCR,” Department of Information Science and Engineering, RV College of Engineering, 2024, pp: 1-6.</a:t>
            </a:r>
            <a:br>
              <a:rPr lang="en-US" sz="1491">
                <a:latin typeface="Arial"/>
                <a:ea typeface="Arial"/>
                <a:cs typeface="Arial"/>
                <a:sym typeface="Arial"/>
              </a:rPr>
            </a:br>
            <a:r>
              <a:rPr lang="en-US" sz="1491">
                <a:latin typeface="Arial"/>
                <a:ea typeface="Arial"/>
                <a:cs typeface="Arial"/>
                <a:sym typeface="Arial"/>
              </a:rPr>
              <a:t>[3] Meijiao Ji, “Design of Student Data Acquisition and Extraction Platform Based on Big Data Technology,” 2nd International Conference on Education, Knowledge and Information Management (ICEKIM), 2021, pp: 407-410.</a:t>
            </a:r>
            <a:endParaRPr sz="1491">
              <a:latin typeface="Arial"/>
              <a:ea typeface="Arial"/>
              <a:cs typeface="Arial"/>
              <a:sym typeface="Arial"/>
            </a:endParaRPr>
          </a:p>
          <a:p>
            <a:pPr indent="0" lvl="0" marL="0" rtl="0" algn="l">
              <a:lnSpc>
                <a:spcPct val="150000"/>
              </a:lnSpc>
              <a:spcBef>
                <a:spcPts val="400"/>
              </a:spcBef>
              <a:spcAft>
                <a:spcPts val="0"/>
              </a:spcAft>
              <a:buClr>
                <a:schemeClr val="dk1"/>
              </a:buClr>
              <a:buSzPts val="1100"/>
              <a:buFont typeface="Arial"/>
              <a:buNone/>
            </a:pPr>
            <a:r>
              <a:rPr lang="en-US" sz="1491">
                <a:latin typeface="Arial"/>
                <a:ea typeface="Arial"/>
                <a:cs typeface="Arial"/>
                <a:sym typeface="Arial"/>
              </a:rPr>
              <a:t>[4] Cartic Ramakrishnan, Abhishek Patnia, Eduard Hovy, and Gully APC Burns, “Layout-aware text extraction from full-text PDF of scientific articles,” Source Code for Biology and Medicine, vol. 7, issue 1, 2012, pp: 7.</a:t>
            </a:r>
            <a:endParaRPr sz="1491">
              <a:latin typeface="Arial"/>
              <a:ea typeface="Arial"/>
              <a:cs typeface="Arial"/>
              <a:sym typeface="Arial"/>
            </a:endParaRPr>
          </a:p>
          <a:p>
            <a:pPr indent="0" lvl="0" marL="0" rtl="0" algn="l">
              <a:lnSpc>
                <a:spcPct val="150000"/>
              </a:lnSpc>
              <a:spcBef>
                <a:spcPts val="400"/>
              </a:spcBef>
              <a:spcAft>
                <a:spcPts val="0"/>
              </a:spcAft>
              <a:buClr>
                <a:schemeClr val="dk1"/>
              </a:buClr>
              <a:buSzPts val="1100"/>
              <a:buFont typeface="Arial"/>
              <a:buNone/>
            </a:pPr>
            <a:r>
              <a:rPr lang="en-US" sz="1491">
                <a:latin typeface="Arial"/>
                <a:ea typeface="Arial"/>
                <a:cs typeface="Arial"/>
                <a:sym typeface="Arial"/>
              </a:rPr>
              <a:t>[5] Xiao Wei Li, Hui Shu, Yi Zhai, and ZhiQiang Lin, “A Method for Resume Information Extraction Using BERT-BILSTM-CRF,” 21st International Conference on Communication Technology (ICCT), 2021, pp: 1437-1442.</a:t>
            </a:r>
            <a:endParaRPr sz="1491">
              <a:latin typeface="Arial"/>
              <a:ea typeface="Arial"/>
              <a:cs typeface="Arial"/>
              <a:sym typeface="Arial"/>
            </a:endParaRPr>
          </a:p>
          <a:p>
            <a:pPr indent="0" lvl="0" marL="0" rtl="0" algn="l">
              <a:lnSpc>
                <a:spcPct val="150000"/>
              </a:lnSpc>
              <a:spcBef>
                <a:spcPts val="400"/>
              </a:spcBef>
              <a:spcAft>
                <a:spcPts val="0"/>
              </a:spcAft>
              <a:buClr>
                <a:schemeClr val="dk1"/>
              </a:buClr>
              <a:buSzPts val="1100"/>
              <a:buFont typeface="Arial"/>
              <a:buNone/>
            </a:pPr>
            <a:r>
              <a:t/>
            </a:r>
            <a:endParaRPr sz="1600">
              <a:latin typeface="Arial"/>
              <a:ea typeface="Arial"/>
              <a:cs typeface="Arial"/>
              <a:sym typeface="Arial"/>
            </a:endParaRPr>
          </a:p>
          <a:p>
            <a:pPr indent="0" lvl="0" marL="0" rtl="0" algn="l">
              <a:lnSpc>
                <a:spcPct val="150000"/>
              </a:lnSpc>
              <a:spcBef>
                <a:spcPts val="400"/>
              </a:spcBef>
              <a:spcAft>
                <a:spcPts val="0"/>
              </a:spcAft>
              <a:buSzPts val="2000"/>
              <a:buNone/>
            </a:pPr>
            <a:r>
              <a:t/>
            </a:r>
            <a:endParaRPr sz="1100">
              <a:latin typeface="Arial"/>
              <a:ea typeface="Arial"/>
              <a:cs typeface="Arial"/>
              <a:sym typeface="Arial"/>
            </a:endParaRPr>
          </a:p>
        </p:txBody>
      </p:sp>
      <p:sp>
        <p:nvSpPr>
          <p:cNvPr id="305" name="Google Shape;305;p39"/>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ph type="title"/>
          </p:nvPr>
        </p:nvSpPr>
        <p:spPr>
          <a:xfrm>
            <a:off x="1647670" y="2"/>
            <a:ext cx="5791200" cy="6399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800"/>
              <a:buNone/>
            </a:pPr>
            <a:r>
              <a:rPr lang="en-US"/>
              <a:t>References</a:t>
            </a:r>
            <a:endParaRPr/>
          </a:p>
        </p:txBody>
      </p:sp>
      <p:sp>
        <p:nvSpPr>
          <p:cNvPr id="312" name="Google Shape;312;p40"/>
          <p:cNvSpPr txBox="1"/>
          <p:nvPr>
            <p:ph idx="1" type="body"/>
          </p:nvPr>
        </p:nvSpPr>
        <p:spPr>
          <a:xfrm>
            <a:off x="609600" y="667404"/>
            <a:ext cx="8353200" cy="57333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50000"/>
              </a:lnSpc>
              <a:spcBef>
                <a:spcPts val="400"/>
              </a:spcBef>
              <a:spcAft>
                <a:spcPts val="0"/>
              </a:spcAft>
              <a:buSzPct val="113798"/>
              <a:buNone/>
            </a:pPr>
            <a:r>
              <a:rPr b="1" lang="en-US" sz="1900">
                <a:latin typeface="Arial"/>
                <a:ea typeface="Arial"/>
                <a:cs typeface="Arial"/>
                <a:sym typeface="Arial"/>
              </a:rPr>
              <a:t>References</a:t>
            </a:r>
            <a:endParaRPr b="1" sz="1900">
              <a:latin typeface="Arial"/>
              <a:ea typeface="Arial"/>
              <a:cs typeface="Arial"/>
              <a:sym typeface="Arial"/>
            </a:endParaRPr>
          </a:p>
          <a:p>
            <a:pPr indent="0" lvl="0" marL="0" rtl="0" algn="l">
              <a:lnSpc>
                <a:spcPct val="150000"/>
              </a:lnSpc>
              <a:spcBef>
                <a:spcPts val="400"/>
              </a:spcBef>
              <a:spcAft>
                <a:spcPts val="0"/>
              </a:spcAft>
              <a:buSzPct val="91087"/>
              <a:buNone/>
            </a:pPr>
            <a:r>
              <a:rPr lang="en-US" sz="2373">
                <a:latin typeface="Arial"/>
                <a:ea typeface="Arial"/>
                <a:cs typeface="Arial"/>
                <a:sym typeface="Arial"/>
              </a:rPr>
              <a:t>[6] Samy Ateia, Udo Kruschwitz, Melanie Scholz, Agnes Koschmider, and Moayad Almohaishi, “LLM-Based Information Extraction to Support Scientific Literature Research and Publication Workflows,” Communications in Computer and Information Science, vol. 2694, 2025, pp: 9.</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rPr lang="en-US" sz="2373">
                <a:latin typeface="Arial"/>
                <a:ea typeface="Arial"/>
                <a:cs typeface="Arial"/>
                <a:sym typeface="Arial"/>
              </a:rPr>
              <a:t>[7] Lovnish Verma, Anita Budhiraja, and Sarwan Singh, “Blockchain-Based Certificate Verification System: A Decentralized Approach,” National Institute of Electronics &amp; Information Technology, 2024, pp: 1-10.</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rPr lang="en-US" sz="2373">
                <a:latin typeface="Arial"/>
                <a:ea typeface="Arial"/>
                <a:cs typeface="Arial"/>
                <a:sym typeface="Arial"/>
              </a:rPr>
              <a:t>[8] Hira Sajid, Javeria Kanwal, Saeed Ur Rehman Bhatti, Saad Ali Qureshi, Amna Basharat, Shujaat Hussain, and Kifayat Ullah Khan, “Resume Parsing Framework for E-recruitment,” 16th International Conference on Ubiquitous Information Management and Communication (IMCOM), 2022, pp: 1-8.</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rPr lang="en-US" sz="2373">
                <a:latin typeface="Arial"/>
                <a:ea typeface="Arial"/>
                <a:cs typeface="Arial"/>
                <a:sym typeface="Arial"/>
              </a:rPr>
              <a:t>[9] "Integrating Artificial Intelligence, Blockchain, and Robotic Process Automation for Secure and Transparent Academic Credential Verification Systems," 2024.</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t/>
            </a:r>
            <a:endParaRPr sz="2373">
              <a:latin typeface="Arial"/>
              <a:ea typeface="Arial"/>
              <a:cs typeface="Arial"/>
              <a:sym typeface="Arial"/>
            </a:endParaRPr>
          </a:p>
          <a:p>
            <a:pPr indent="0" lvl="0" marL="0" rtl="0" algn="l">
              <a:lnSpc>
                <a:spcPct val="150000"/>
              </a:lnSpc>
              <a:spcBef>
                <a:spcPts val="400"/>
              </a:spcBef>
              <a:spcAft>
                <a:spcPts val="0"/>
              </a:spcAft>
              <a:buSzPct val="91087"/>
              <a:buNone/>
            </a:pPr>
            <a:r>
              <a:rPr lang="en-US" sz="2373">
                <a:latin typeface="Arial"/>
                <a:ea typeface="Arial"/>
                <a:cs typeface="Arial"/>
                <a:sym typeface="Arial"/>
              </a:rPr>
              <a:t>[10] Anubhav Shrimal, Aryan Jain, Soumyajit Chowdhury, and Promod Yenigalla, “PARSE: LLM Driven Schema Optimization for Reliable Entity Extraction,” arXiv, 2025, pp:1-12.</a:t>
            </a:r>
            <a:endParaRPr sz="2373">
              <a:latin typeface="Arial"/>
              <a:ea typeface="Arial"/>
              <a:cs typeface="Arial"/>
              <a:sym typeface="Arial"/>
            </a:endParaRPr>
          </a:p>
          <a:p>
            <a:pPr indent="0" lvl="0" marL="0" rtl="0" algn="l">
              <a:lnSpc>
                <a:spcPct val="150000"/>
              </a:lnSpc>
              <a:spcBef>
                <a:spcPts val="400"/>
              </a:spcBef>
              <a:spcAft>
                <a:spcPts val="0"/>
              </a:spcAft>
              <a:buSzPct val="135135"/>
              <a:buNone/>
            </a:pPr>
            <a:r>
              <a:t/>
            </a:r>
            <a:endParaRPr sz="1600">
              <a:latin typeface="Arial"/>
              <a:ea typeface="Arial"/>
              <a:cs typeface="Arial"/>
              <a:sym typeface="Arial"/>
            </a:endParaRPr>
          </a:p>
          <a:p>
            <a:pPr indent="0" lvl="0" marL="0" rtl="0" algn="l">
              <a:lnSpc>
                <a:spcPct val="150000"/>
              </a:lnSpc>
              <a:spcBef>
                <a:spcPts val="400"/>
              </a:spcBef>
              <a:spcAft>
                <a:spcPts val="0"/>
              </a:spcAft>
              <a:buSzPct val="196560"/>
              <a:buNone/>
            </a:pPr>
            <a:br>
              <a:rPr lang="en-US" sz="1100">
                <a:latin typeface="Arial"/>
                <a:ea typeface="Arial"/>
                <a:cs typeface="Arial"/>
                <a:sym typeface="Arial"/>
              </a:rPr>
            </a:br>
            <a:endParaRPr sz="1100">
              <a:latin typeface="Arial"/>
              <a:ea typeface="Arial"/>
              <a:cs typeface="Arial"/>
              <a:sym typeface="Arial"/>
            </a:endParaRPr>
          </a:p>
          <a:p>
            <a:pPr indent="0" lvl="0" marL="0" rtl="0" algn="l">
              <a:lnSpc>
                <a:spcPct val="150000"/>
              </a:lnSpc>
              <a:spcBef>
                <a:spcPts val="400"/>
              </a:spcBef>
              <a:spcAft>
                <a:spcPts val="0"/>
              </a:spcAft>
              <a:buSzPct val="196560"/>
              <a:buNone/>
            </a:pPr>
            <a:r>
              <a:t/>
            </a:r>
            <a:endParaRPr sz="1100">
              <a:latin typeface="Arial"/>
              <a:ea typeface="Arial"/>
              <a:cs typeface="Arial"/>
              <a:sym typeface="Arial"/>
            </a:endParaRPr>
          </a:p>
        </p:txBody>
      </p:sp>
      <p:sp>
        <p:nvSpPr>
          <p:cNvPr id="313" name="Google Shape;313;p40"/>
          <p:cNvSpPr txBox="1"/>
          <p:nvPr>
            <p:ph idx="12" type="sldNum"/>
          </p:nvPr>
        </p:nvSpPr>
        <p:spPr>
          <a:xfrm>
            <a:off x="6950148" y="6538422"/>
            <a:ext cx="2133600" cy="2604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r>
              <a:rPr lang="en-US"/>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r>
              <a:rPr lang="en-US"/>
              <a:t> </a:t>
            </a:r>
            <a:endParaRPr/>
          </a:p>
        </p:txBody>
      </p:sp>
      <p:sp>
        <p:nvSpPr>
          <p:cNvPr id="319" name="Google Shape;319;p41"/>
          <p:cNvSpPr/>
          <p:nvPr/>
        </p:nvSpPr>
        <p:spPr>
          <a:xfrm>
            <a:off x="2918984" y="2967335"/>
            <a:ext cx="3306033" cy="9233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accent5"/>
                </a:solidFill>
                <a:latin typeface="Calibri"/>
                <a:ea typeface="Calibri"/>
                <a:cs typeface="Calibri"/>
                <a:sym typeface="Calibri"/>
              </a:rPr>
              <a:t>Thank You </a:t>
            </a:r>
            <a:endParaRPr b="0" i="0" sz="1400" u="none" cap="none" strike="noStrike">
              <a:solidFill>
                <a:srgbClr val="000000"/>
              </a:solidFill>
              <a:latin typeface="Arial"/>
              <a:ea typeface="Arial"/>
              <a:cs typeface="Arial"/>
              <a:sym typeface="Arial"/>
            </a:endParaRPr>
          </a:p>
        </p:txBody>
      </p:sp>
      <p:sp>
        <p:nvSpPr>
          <p:cNvPr id="320" name="Google Shape;320;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